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today I'm introducing mantroOps. We aren't trying to build another generic CMMS. Global tools already solve this problem on paper. The real gap is fit—those tools weren't built for the operational realities of African engineering teams. We are changing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Engineering firms in Ghana—across construction, mining, oil &amp; gas, and utilities—are managing millions of dollars in equipment. Right now, if you aren't a massive multinational with an enterprise budget, you are stuck using spreadsheets. That is our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issue isn't that software doesn't exist; it's that it doesn't get used. When a technician's internet drops in Tema, Takoradi, or Obuasi, global cloud tools break down. They revert to WhatsApp, and management loses all visibility and compliance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mantroOps bridges the gap between the office and the field. Managers get a powerful desktop dashboard for tracking and reporting, while technicians get an incredibly simple mobile experience that works seamlessly offline and syncs automatically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competitive advantage isn't just a list of features—it's pure adoption. We win because we meet teams where they already are: on WhatsApp, using local vendors in Kumasi or Takoradi, and paying in Cedis.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a focused 4-person team built to move fast without unnecessary overhead. The tech lead builds, the designer makes it look simple enough to easily sell, sales gets us in front of the right clients, and operations makes sure nothing falls through the cracks.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target for the next 90 days is hyper-focused: get a demoable MVP ready and land our very first pilot client. We are not building everything at once; we are focusing on traction.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reality is that our first 3 clients won't come from digital marketing or a website. They will come from us picking up the phone and calling people we already know in the industry. Trust and warm introductions close deals in Ghana.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UI/UX needs to look crisp and feel premium, yet clean enough to operate smoothly on lower-end Android phones in the field. We'll use Papaya orange for primary interactions and Verdemar teal for clear visual feedback when data syncs or a work order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align on our roles today so we can kick off the first engineering sprint and start talking to our core contacts to validate these specific field pain points. Let's build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0A691"/>
          </a:solidFill>
          <a:ln w="12700">
            <a:solidFill>
              <a:srgbClr val="00A691"/>
            </a:solidFill>
            <a:prstDash val="solid"/>
          </a:ln>
        </p:spPr>
      </p:sp>
      <p:pic>
        <p:nvPicPr>
          <p:cNvPr id="3" name="Image 0" descr="C:\Users\Duapa Werkspace 010\Desktop\MantroOps\docs\presentation-assets\hero-engineering.jpg">    </p:cNvPr>
          <p:cNvPicPr>
            <a:picLocks noChangeAspect="1"/>
          </p:cNvPicPr>
          <p:nvPr/>
        </p:nvPicPr>
        <p:blipFill>
          <a:blip r:embed="rId1"/>
          <a:srcRect l="0" r="0" t="0" b="0"/>
          <a:stretch/>
        </p:blipFill>
        <p:spPr>
          <a:xfrm>
            <a:off x="4754880" y="0"/>
            <a:ext cx="4389120" cy="5143500"/>
          </a:xfrm>
          <a:prstGeom prst="rect">
            <a:avLst/>
          </a:prstGeom>
        </p:spPr>
      </p:pic>
      <p:sp>
        <p:nvSpPr>
          <p:cNvPr id="4" name="Shape 1"/>
          <p:cNvSpPr/>
          <p:nvPr/>
        </p:nvSpPr>
        <p:spPr>
          <a:xfrm>
            <a:off x="4206240" y="0"/>
            <a:ext cx="731520" cy="5143500"/>
          </a:xfrm>
          <a:prstGeom prst="rect">
            <a:avLst/>
          </a:prstGeom>
          <a:solidFill>
            <a:srgbClr val="FFFFFF"/>
          </a:solidFill>
          <a:ln w="12700">
            <a:solidFill>
              <a:srgbClr val="FFFFFF">
                <a:alpha val="0"/>
              </a:srgbClr>
            </a:solidFill>
            <a:prstDash val="solid"/>
          </a:ln>
        </p:spPr>
      </p:sp>
      <p:pic>
        <p:nvPicPr>
          <p:cNvPr id="5" name="Image 1" descr="C:\Users\Duapa Werkspace 010\Desktop\MantroOps\public\logo.png">    </p:cNvPr>
          <p:cNvPicPr>
            <a:picLocks noChangeAspect="1"/>
          </p:cNvPicPr>
          <p:nvPr/>
        </p:nvPicPr>
        <p:blipFill>
          <a:blip r:embed="rId2"/>
          <a:srcRect l="0" r="0" t="0" b="0"/>
          <a:stretch/>
        </p:blipFill>
        <p:spPr>
          <a:xfrm>
            <a:off x="502920" y="502920"/>
            <a:ext cx="2194560" cy="502920"/>
          </a:xfrm>
          <a:prstGeom prst="rect">
            <a:avLst/>
          </a:prstGeom>
        </p:spPr>
      </p:pic>
      <p:sp>
        <p:nvSpPr>
          <p:cNvPr id="6" name="Text 2"/>
          <p:cNvSpPr/>
          <p:nvPr/>
        </p:nvSpPr>
        <p:spPr>
          <a:xfrm>
            <a:off x="502920" y="1234440"/>
            <a:ext cx="4114800" cy="457200"/>
          </a:xfrm>
          <a:prstGeom prst="rect">
            <a:avLst/>
          </a:prstGeom>
          <a:noFill/>
          <a:ln/>
        </p:spPr>
        <p:txBody>
          <a:bodyPr wrap="square" rtlCol="0" anchor="ctr"/>
          <a:lstStyle/>
          <a:p>
            <a:pPr indent="0" marL="0">
              <a:buNone/>
            </a:pPr>
            <a:r>
              <a:rPr lang="en-US" sz="2200" b="1" dirty="0">
                <a:solidFill>
                  <a:srgbClr val="4F4E4F"/>
                </a:solidFill>
                <a:latin typeface="Arial" pitchFamily="34" charset="0"/>
                <a:ea typeface="Arial" pitchFamily="34" charset="-122"/>
                <a:cs typeface="Arial" pitchFamily="34" charset="-120"/>
              </a:rPr>
              <a:t>Introducing mantroOps</a:t>
            </a:r>
            <a:endParaRPr lang="en-US" sz="2200" dirty="0"/>
          </a:p>
        </p:txBody>
      </p:sp>
      <p:sp>
        <p:nvSpPr>
          <p:cNvPr id="7" name="Text 3"/>
          <p:cNvSpPr/>
          <p:nvPr/>
        </p:nvSpPr>
        <p:spPr>
          <a:xfrm>
            <a:off x="502920" y="1783080"/>
            <a:ext cx="4023360" cy="1005840"/>
          </a:xfrm>
          <a:prstGeom prst="rect">
            <a:avLst/>
          </a:prstGeom>
          <a:noFill/>
          <a:ln/>
        </p:spPr>
        <p:txBody>
          <a:bodyPr wrap="square" rtlCol="0" anchor="ctr"/>
          <a:lstStyle/>
          <a:p>
            <a:pPr indent="0" marL="0">
              <a:buNone/>
            </a:pPr>
            <a:r>
              <a:rPr lang="en-US" sz="1500" dirty="0">
                <a:solidFill>
                  <a:srgbClr val="4F4E4F"/>
                </a:solidFill>
                <a:latin typeface="Arial" pitchFamily="34" charset="0"/>
                <a:ea typeface="Arial" pitchFamily="34" charset="-122"/>
                <a:cs typeface="Arial" pitchFamily="34" charset="-120"/>
              </a:rPr>
              <a:t>The first maintenance platform built for how African engineering teams actually work.</a:t>
            </a:r>
            <a:endParaRPr lang="en-US" sz="1500" dirty="0"/>
          </a:p>
        </p:txBody>
      </p:sp>
      <p:sp>
        <p:nvSpPr>
          <p:cNvPr id="8" name="Shape 4"/>
          <p:cNvSpPr/>
          <p:nvPr/>
        </p:nvSpPr>
        <p:spPr>
          <a:xfrm>
            <a:off x="502920" y="2971800"/>
            <a:ext cx="1097280" cy="36576"/>
          </a:xfrm>
          <a:prstGeom prst="rect">
            <a:avLst/>
          </a:prstGeom>
          <a:solidFill>
            <a:srgbClr val="F1583B"/>
          </a:solidFill>
          <a:ln w="12700">
            <a:solidFill>
              <a:srgbClr val="F1583B"/>
            </a:solidFill>
            <a:prstDash val="solid"/>
          </a:ln>
        </p:spPr>
      </p:sp>
      <p:sp>
        <p:nvSpPr>
          <p:cNvPr id="9" name="Text 5"/>
          <p:cNvSpPr/>
          <p:nvPr/>
        </p:nvSpPr>
        <p:spPr>
          <a:xfrm>
            <a:off x="502920" y="3200400"/>
            <a:ext cx="3657600" cy="320040"/>
          </a:xfrm>
          <a:prstGeom prst="rect">
            <a:avLst/>
          </a:prstGeom>
          <a:noFill/>
          <a:ln/>
        </p:spPr>
        <p:txBody>
          <a:bodyPr wrap="square" rtlCol="0" anchor="ctr"/>
          <a:lstStyle/>
          <a:p>
            <a:pPr indent="0" marL="0">
              <a:buNone/>
            </a:pPr>
            <a:r>
              <a:rPr lang="en-US" sz="1000" b="1" spc="200" kern="0" dirty="0">
                <a:solidFill>
                  <a:srgbClr val="00A691"/>
                </a:solidFill>
                <a:latin typeface="Arial" pitchFamily="34" charset="0"/>
                <a:ea typeface="Arial" pitchFamily="34" charset="-122"/>
                <a:cs typeface="Arial" pitchFamily="34" charset="-120"/>
              </a:rPr>
              <a:t>PROJECT KICKOFF  ·  JUNE 2025</a:t>
            </a:r>
            <a:endParaRPr lang="en-US" sz="1000" dirty="0"/>
          </a:p>
        </p:txBody>
      </p:sp>
      <p:sp>
        <p:nvSpPr>
          <p:cNvPr id="10" name="Text 6"/>
          <p:cNvSpPr/>
          <p:nvPr/>
        </p:nvSpPr>
        <p:spPr>
          <a:xfrm>
            <a:off x="502920" y="3566160"/>
            <a:ext cx="4023360" cy="731520"/>
          </a:xfrm>
          <a:prstGeom prst="rect">
            <a:avLst/>
          </a:prstGeom>
          <a:noFill/>
          <a:ln/>
        </p:spPr>
        <p:txBody>
          <a:bodyPr wrap="square" rtlCol="0" anchor="ctr"/>
          <a:lstStyle/>
          <a:p>
            <a:pPr indent="0" marL="0">
              <a:buNone/>
            </a:pPr>
            <a:r>
              <a:rPr lang="en-US" sz="1100" dirty="0">
                <a:solidFill>
                  <a:srgbClr val="8A898A"/>
                </a:solidFill>
                <a:latin typeface="Arial" pitchFamily="34" charset="0"/>
                <a:ea typeface="Arial" pitchFamily="34" charset="-122"/>
                <a:cs typeface="Arial" pitchFamily="34" charset="-120"/>
              </a:rPr>
              <a:t>We aren't building another generic CMMS. We are building for the operational realities of African engineering teams.</a:t>
            </a:r>
            <a:endParaRPr lang="en-US" sz="1100" dirty="0"/>
          </a:p>
        </p:txBody>
      </p:sp>
      <p:sp>
        <p:nvSpPr>
          <p:cNvPr id="11" name="Text 7"/>
          <p:cNvSpPr/>
          <p:nvPr/>
        </p:nvSpPr>
        <p:spPr>
          <a:xfrm>
            <a:off x="457200" y="4709160"/>
            <a:ext cx="5486400" cy="274320"/>
          </a:xfrm>
          <a:prstGeom prst="rect">
            <a:avLst/>
          </a:prstGeom>
          <a:noFill/>
          <a:ln/>
        </p:spPr>
        <p:txBody>
          <a:bodyPr wrap="square" rtlCol="0" anchor="ctr"/>
          <a:lstStyle/>
          <a:p>
            <a:pPr indent="0" marL="0">
              <a:buNone/>
            </a:pPr>
            <a:r>
              <a:rPr lang="en-US" sz="800" dirty="0">
                <a:solidFill>
                  <a:srgbClr val="8A898A"/>
                </a:solidFill>
                <a:latin typeface="Arial" pitchFamily="34" charset="0"/>
                <a:ea typeface="Arial" pitchFamily="34" charset="-122"/>
                <a:cs typeface="Arial" pitchFamily="34" charset="-120"/>
              </a:rPr>
              <a:t>mantroOps  ·  Project Kickoff  ·  June 2025</a:t>
            </a:r>
            <a:endParaRPr lang="en-US" sz="800" dirty="0"/>
          </a:p>
        </p:txBody>
      </p:sp>
      <p:sp>
        <p:nvSpPr>
          <p:cNvPr id="12" name="Text 8"/>
          <p:cNvSpPr/>
          <p:nvPr/>
        </p:nvSpPr>
        <p:spPr>
          <a:xfrm>
            <a:off x="7772400" y="4709160"/>
            <a:ext cx="914400" cy="274320"/>
          </a:xfrm>
          <a:prstGeom prst="rect">
            <a:avLst/>
          </a:prstGeom>
          <a:noFill/>
          <a:ln/>
        </p:spPr>
        <p:txBody>
          <a:bodyPr wrap="square" rtlCol="0" anchor="ctr"/>
          <a:lstStyle/>
          <a:p>
            <a:pPr algn="r" indent="0" marL="0">
              <a:buNone/>
            </a:pPr>
            <a:r>
              <a:rPr lang="en-US" sz="800" dirty="0">
                <a:solidFill>
                  <a:srgbClr val="8A898A"/>
                </a:solidFill>
                <a:latin typeface="Arial" pitchFamily="34" charset="0"/>
                <a:ea typeface="Arial" pitchFamily="34" charset="-122"/>
                <a:cs typeface="Arial" pitchFamily="34" charset="-120"/>
              </a:rPr>
              <a:t>01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0A691"/>
          </a:solidFill>
          <a:ln w="12700">
            <a:solidFill>
              <a:srgbClr val="00A691"/>
            </a:solidFill>
            <a:prstDash val="solid"/>
          </a:ln>
        </p:spPr>
      </p:sp>
      <p:sp>
        <p:nvSpPr>
          <p:cNvPr id="3" name="Text 1"/>
          <p:cNvSpPr/>
          <p:nvPr/>
        </p:nvSpPr>
        <p:spPr>
          <a:xfrm>
            <a:off x="502920" y="411480"/>
            <a:ext cx="5029200" cy="640080"/>
          </a:xfrm>
          <a:prstGeom prst="rect">
            <a:avLst/>
          </a:prstGeom>
          <a:noFill/>
          <a:ln/>
        </p:spPr>
        <p:txBody>
          <a:bodyPr wrap="square" rtlCol="0" anchor="ctr"/>
          <a:lstStyle/>
          <a:p>
            <a:pPr indent="0" marL="0">
              <a:buNone/>
            </a:pPr>
            <a:r>
              <a:rPr lang="en-US" sz="2800" b="1" dirty="0">
                <a:solidFill>
                  <a:srgbClr val="4F4E4F"/>
                </a:solidFill>
                <a:latin typeface="Arial" pitchFamily="34" charset="0"/>
                <a:ea typeface="Arial" pitchFamily="34" charset="-122"/>
                <a:cs typeface="Arial" pitchFamily="34" charset="-120"/>
              </a:rPr>
              <a:t>Who We Are Building For</a:t>
            </a:r>
            <a:endParaRPr lang="en-US" sz="2800" dirty="0"/>
          </a:p>
        </p:txBody>
      </p:sp>
      <p:sp>
        <p:nvSpPr>
          <p:cNvPr id="4" name="Text 2"/>
          <p:cNvSpPr/>
          <p:nvPr/>
        </p:nvSpPr>
        <p:spPr>
          <a:xfrm>
            <a:off x="502920" y="1097280"/>
            <a:ext cx="5303520" cy="502920"/>
          </a:xfrm>
          <a:prstGeom prst="rect">
            <a:avLst/>
          </a:prstGeom>
          <a:noFill/>
          <a:ln/>
        </p:spPr>
        <p:txBody>
          <a:bodyPr wrap="square" rtlCol="0" anchor="ctr"/>
          <a:lstStyle/>
          <a:p>
            <a:pPr indent="0" marL="0">
              <a:buNone/>
            </a:pPr>
            <a:r>
              <a:rPr lang="en-US" sz="1300" i="1" dirty="0">
                <a:solidFill>
                  <a:srgbClr val="8A898A"/>
                </a:solidFill>
                <a:latin typeface="Arial" pitchFamily="34" charset="0"/>
                <a:ea typeface="Arial" pitchFamily="34" charset="-122"/>
                <a:cs typeface="Arial" pitchFamily="34" charset="-120"/>
              </a:rPr>
              <a:t>The Opportunity &amp; Market Gap</a:t>
            </a:r>
            <a:endParaRPr lang="en-US" sz="1300" dirty="0"/>
          </a:p>
        </p:txBody>
      </p:sp>
      <p:sp>
        <p:nvSpPr>
          <p:cNvPr id="5" name="Text 3"/>
          <p:cNvSpPr/>
          <p:nvPr/>
        </p:nvSpPr>
        <p:spPr>
          <a:xfrm>
            <a:off x="502920" y="1417320"/>
            <a:ext cx="5029200" cy="2926080"/>
          </a:xfrm>
          <a:prstGeom prst="rect">
            <a:avLst/>
          </a:prstGeom>
          <a:noFill/>
          <a:ln/>
        </p:spPr>
        <p:txBody>
          <a:bodyPr wrap="square" rtlCol="0" anchor="t"/>
          <a:lstStyle/>
          <a:p>
            <a:pPr marL="342900" indent="-342900">
              <a:spcAft>
                <a:spcPts val="800"/>
              </a:spcAft>
              <a:buSzPct val="100000"/>
              <a:buChar char="•"/>
            </a:pPr>
            <a:r>
              <a:rPr lang="en-US" sz="1200" dirty="0">
                <a:solidFill>
                  <a:srgbClr val="4F4E4F"/>
                </a:solidFill>
                <a:latin typeface="Arial" pitchFamily="34" charset="0"/>
                <a:ea typeface="Arial" pitchFamily="34" charset="-122"/>
                <a:cs typeface="Arial" pitchFamily="34" charset="-120"/>
              </a:rPr>
              <a:t>Target Market: Mid-size and smaller Ghanaian engineering contractors, service companies, fabricators, and builders managing expensive, critical equipment daily.</a:t>
            </a:r>
            <a:endParaRPr lang="en-US" sz="1200" dirty="0"/>
          </a:p>
          <a:p>
            <a:pPr marL="342900" indent="-342900">
              <a:spcAft>
                <a:spcPts val="800"/>
              </a:spcAft>
              <a:buSzPct val="100000"/>
              <a:buChar char="•"/>
            </a:pPr>
            <a:r>
              <a:rPr lang="en-US" sz="1200" dirty="0">
                <a:solidFill>
                  <a:srgbClr val="4F4E4F"/>
                </a:solidFill>
                <a:latin typeface="Arial" pitchFamily="34" charset="0"/>
                <a:ea typeface="Arial" pitchFamily="34" charset="-122"/>
                <a:cs typeface="Arial" pitchFamily="34" charset="-120"/>
              </a:rPr>
              <a:t>Status Quo: Large multinationals use SAP or IBM Maximo. Local firms use spreadsheets — or nothing at all.</a:t>
            </a:r>
            <a:endParaRPr lang="en-US" sz="1200" dirty="0"/>
          </a:p>
          <a:p>
            <a:pPr marL="342900" indent="-342900">
              <a:spcAft>
                <a:spcPts val="800"/>
              </a:spcAft>
              <a:buSzPct val="100000"/>
              <a:buChar char="•"/>
            </a:pPr>
            <a:r>
              <a:rPr lang="en-US" sz="1200" dirty="0">
                <a:solidFill>
                  <a:srgbClr val="4F4E4F"/>
                </a:solidFill>
                <a:latin typeface="Arial" pitchFamily="34" charset="0"/>
                <a:ea typeface="Arial" pitchFamily="34" charset="-122"/>
                <a:cs typeface="Arial" pitchFamily="34" charset="-120"/>
              </a:rPr>
              <a:t>Opportunity: Give local firms an accessible, affordable platform built for their specific engineering context.</a:t>
            </a:r>
            <a:endParaRPr lang="en-US" sz="1200" dirty="0"/>
          </a:p>
        </p:txBody>
      </p:sp>
      <p:pic>
        <p:nvPicPr>
          <p:cNvPr id="6" name="Image 0" descr="C:\Users\Duapa Werkspace 010\Desktop\MantroOps\docs\presentation-assets\ghana-workers.jpg">    </p:cNvPr>
          <p:cNvPicPr>
            <a:picLocks noChangeAspect="1"/>
          </p:cNvPicPr>
          <p:nvPr/>
        </p:nvPicPr>
        <p:blipFill>
          <a:blip r:embed="rId1"/>
          <a:srcRect l="0" r="0" t="0" b="0"/>
          <a:stretch/>
        </p:blipFill>
        <p:spPr>
          <a:xfrm>
            <a:off x="5577840" y="502920"/>
            <a:ext cx="3063240" cy="3977640"/>
          </a:xfrm>
          <a:prstGeom prst="ellipse">
            <a:avLst/>
          </a:prstGeom>
        </p:spPr>
      </p:pic>
      <p:sp>
        <p:nvSpPr>
          <p:cNvPr id="7" name="Text 4"/>
          <p:cNvSpPr/>
          <p:nvPr/>
        </p:nvSpPr>
        <p:spPr>
          <a:xfrm>
            <a:off x="457200" y="4709160"/>
            <a:ext cx="5486400" cy="274320"/>
          </a:xfrm>
          <a:prstGeom prst="rect">
            <a:avLst/>
          </a:prstGeom>
          <a:noFill/>
          <a:ln/>
        </p:spPr>
        <p:txBody>
          <a:bodyPr wrap="square" rtlCol="0" anchor="ctr"/>
          <a:lstStyle/>
          <a:p>
            <a:pPr indent="0" marL="0">
              <a:buNone/>
            </a:pPr>
            <a:r>
              <a:rPr lang="en-US" sz="800" dirty="0">
                <a:solidFill>
                  <a:srgbClr val="8A898A"/>
                </a:solidFill>
                <a:latin typeface="Arial" pitchFamily="34" charset="0"/>
                <a:ea typeface="Arial" pitchFamily="34" charset="-122"/>
                <a:cs typeface="Arial" pitchFamily="34" charset="-120"/>
              </a:rPr>
              <a:t>mantroOps  ·  Project Kickoff  ·  June 2025</a:t>
            </a:r>
            <a:endParaRPr lang="en-US" sz="800" dirty="0"/>
          </a:p>
        </p:txBody>
      </p:sp>
      <p:sp>
        <p:nvSpPr>
          <p:cNvPr id="8" name="Text 5"/>
          <p:cNvSpPr/>
          <p:nvPr/>
        </p:nvSpPr>
        <p:spPr>
          <a:xfrm>
            <a:off x="7772400" y="4709160"/>
            <a:ext cx="914400" cy="274320"/>
          </a:xfrm>
          <a:prstGeom prst="rect">
            <a:avLst/>
          </a:prstGeom>
          <a:noFill/>
          <a:ln/>
        </p:spPr>
        <p:txBody>
          <a:bodyPr wrap="square" rtlCol="0" anchor="ctr"/>
          <a:lstStyle/>
          <a:p>
            <a:pPr algn="r" indent="0" marL="0">
              <a:buNone/>
            </a:pPr>
            <a:r>
              <a:rPr lang="en-US" sz="800" dirty="0">
                <a:solidFill>
                  <a:srgbClr val="8A898A"/>
                </a:solidFill>
                <a:latin typeface="Arial" pitchFamily="34" charset="0"/>
                <a:ea typeface="Arial" pitchFamily="34" charset="-122"/>
                <a:cs typeface="Arial" pitchFamily="34" charset="-120"/>
              </a:rPr>
              <a:t>02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0A691"/>
          </a:solidFill>
          <a:ln w="12700">
            <a:solidFill>
              <a:srgbClr val="00A691"/>
            </a:solidFill>
            <a:prstDash val="solid"/>
          </a:ln>
        </p:spPr>
      </p:sp>
      <p:sp>
        <p:nvSpPr>
          <p:cNvPr id="3" name="Text 1"/>
          <p:cNvSpPr/>
          <p:nvPr/>
        </p:nvSpPr>
        <p:spPr>
          <a:xfrm>
            <a:off x="502920" y="411480"/>
            <a:ext cx="5029200" cy="640080"/>
          </a:xfrm>
          <a:prstGeom prst="rect">
            <a:avLst/>
          </a:prstGeom>
          <a:noFill/>
          <a:ln/>
        </p:spPr>
        <p:txBody>
          <a:bodyPr wrap="square" rtlCol="0" anchor="ctr"/>
          <a:lstStyle/>
          <a:p>
            <a:pPr indent="0" marL="0">
              <a:buNone/>
            </a:pPr>
            <a:r>
              <a:rPr lang="en-US" sz="2800" b="1" dirty="0">
                <a:solidFill>
                  <a:srgbClr val="4F4E4F"/>
                </a:solidFill>
                <a:latin typeface="Arial" pitchFamily="34" charset="0"/>
                <a:ea typeface="Arial" pitchFamily="34" charset="-122"/>
                <a:cs typeface="Arial" pitchFamily="34" charset="-120"/>
              </a:rPr>
              <a:t>Why Global Software Fails in Ghana</a:t>
            </a:r>
            <a:endParaRPr lang="en-US" sz="2800" dirty="0"/>
          </a:p>
        </p:txBody>
      </p:sp>
      <p:sp>
        <p:nvSpPr>
          <p:cNvPr id="4" name="Text 2"/>
          <p:cNvSpPr/>
          <p:nvPr/>
        </p:nvSpPr>
        <p:spPr>
          <a:xfrm>
            <a:off x="502920" y="1097280"/>
            <a:ext cx="5303520" cy="502920"/>
          </a:xfrm>
          <a:prstGeom prst="rect">
            <a:avLst/>
          </a:prstGeom>
          <a:noFill/>
          <a:ln/>
        </p:spPr>
        <p:txBody>
          <a:bodyPr wrap="square" rtlCol="0" anchor="ctr"/>
          <a:lstStyle/>
          <a:p>
            <a:pPr indent="0" marL="0">
              <a:buNone/>
            </a:pPr>
            <a:r>
              <a:rPr lang="en-US" sz="1300" i="1" dirty="0">
                <a:solidFill>
                  <a:srgbClr val="8A898A"/>
                </a:solidFill>
                <a:latin typeface="Arial" pitchFamily="34" charset="0"/>
                <a:ea typeface="Arial" pitchFamily="34" charset="-122"/>
                <a:cs typeface="Arial" pitchFamily="34" charset="-120"/>
              </a:rPr>
              <a:t>The Real Problems on the Ground</a:t>
            </a:r>
            <a:endParaRPr lang="en-US" sz="1300" dirty="0"/>
          </a:p>
        </p:txBody>
      </p:sp>
      <p:sp>
        <p:nvSpPr>
          <p:cNvPr id="5" name="Shape 3"/>
          <p:cNvSpPr/>
          <p:nvPr/>
        </p:nvSpPr>
        <p:spPr>
          <a:xfrm>
            <a:off x="502920" y="1417320"/>
            <a:ext cx="3977640" cy="1417320"/>
          </a:xfrm>
          <a:prstGeom prst="roundRect">
            <a:avLst>
              <a:gd name="adj" fmla="val 5161"/>
            </a:avLst>
          </a:prstGeom>
          <a:solidFill>
            <a:srgbClr val="FFFFFF"/>
          </a:solidFill>
          <a:ln w="12700">
            <a:solidFill>
              <a:srgbClr val="E8E8E8"/>
            </a:solidFill>
            <a:prstDash val="solid"/>
          </a:ln>
        </p:spPr>
      </p:sp>
      <p:sp>
        <p:nvSpPr>
          <p:cNvPr id="6" name="Shape 4"/>
          <p:cNvSpPr/>
          <p:nvPr/>
        </p:nvSpPr>
        <p:spPr>
          <a:xfrm>
            <a:off x="502920" y="1417320"/>
            <a:ext cx="73152" cy="1417320"/>
          </a:xfrm>
          <a:prstGeom prst="rect">
            <a:avLst/>
          </a:prstGeom>
          <a:solidFill>
            <a:srgbClr val="F1583B"/>
          </a:solidFill>
          <a:ln w="12700">
            <a:solidFill>
              <a:srgbClr val="F1583B"/>
            </a:solidFill>
            <a:prstDash val="solid"/>
          </a:ln>
        </p:spPr>
      </p:sp>
      <p:sp>
        <p:nvSpPr>
          <p:cNvPr id="7" name="Text 5"/>
          <p:cNvSpPr/>
          <p:nvPr/>
        </p:nvSpPr>
        <p:spPr>
          <a:xfrm>
            <a:off x="731520" y="1554480"/>
            <a:ext cx="3566160" cy="320040"/>
          </a:xfrm>
          <a:prstGeom prst="rect">
            <a:avLst/>
          </a:prstGeom>
          <a:noFill/>
          <a:ln/>
        </p:spPr>
        <p:txBody>
          <a:bodyPr wrap="square" rtlCol="0" anchor="ctr"/>
          <a:lstStyle/>
          <a:p>
            <a:pPr indent="0" marL="0">
              <a:buNone/>
            </a:pPr>
            <a:r>
              <a:rPr lang="en-US" sz="1300" b="1" dirty="0">
                <a:solidFill>
                  <a:srgbClr val="4F4E4F"/>
                </a:solidFill>
                <a:latin typeface="Arial" pitchFamily="34" charset="0"/>
                <a:ea typeface="Arial" pitchFamily="34" charset="-122"/>
                <a:cs typeface="Arial" pitchFamily="34" charset="-120"/>
              </a:rPr>
              <a:t>Connectivity Drops</a:t>
            </a:r>
            <a:endParaRPr lang="en-US" sz="1300" dirty="0"/>
          </a:p>
        </p:txBody>
      </p:sp>
      <p:sp>
        <p:nvSpPr>
          <p:cNvPr id="8" name="Text 6"/>
          <p:cNvSpPr/>
          <p:nvPr/>
        </p:nvSpPr>
        <p:spPr>
          <a:xfrm>
            <a:off x="731520" y="1874520"/>
            <a:ext cx="3566160" cy="822960"/>
          </a:xfrm>
          <a:prstGeom prst="rect">
            <a:avLst/>
          </a:prstGeom>
          <a:noFill/>
          <a:ln/>
        </p:spPr>
        <p:txBody>
          <a:bodyPr wrap="square" rtlCol="0" anchor="ctr"/>
          <a:lstStyle/>
          <a:p>
            <a:pPr indent="0" marL="0">
              <a:buNone/>
            </a:pPr>
            <a:r>
              <a:rPr lang="en-US" sz="1100" dirty="0">
                <a:solidFill>
                  <a:srgbClr val="8A898A"/>
                </a:solidFill>
                <a:latin typeface="Arial" pitchFamily="34" charset="0"/>
                <a:ea typeface="Arial" pitchFamily="34" charset="-122"/>
                <a:cs typeface="Arial" pitchFamily="34" charset="-120"/>
              </a:rPr>
              <a:t>Cloud-only tools become useless offline on remote sites like Obuasi or Takoradi.</a:t>
            </a:r>
            <a:endParaRPr lang="en-US" sz="1100" dirty="0"/>
          </a:p>
        </p:txBody>
      </p:sp>
      <p:sp>
        <p:nvSpPr>
          <p:cNvPr id="9" name="Shape 7"/>
          <p:cNvSpPr/>
          <p:nvPr/>
        </p:nvSpPr>
        <p:spPr>
          <a:xfrm>
            <a:off x="4800600" y="1417320"/>
            <a:ext cx="3977640" cy="1417320"/>
          </a:xfrm>
          <a:prstGeom prst="roundRect">
            <a:avLst>
              <a:gd name="adj" fmla="val 5161"/>
            </a:avLst>
          </a:prstGeom>
          <a:solidFill>
            <a:srgbClr val="FFFFFF"/>
          </a:solidFill>
          <a:ln w="12700">
            <a:solidFill>
              <a:srgbClr val="E8E8E8"/>
            </a:solidFill>
            <a:prstDash val="solid"/>
          </a:ln>
        </p:spPr>
      </p:sp>
      <p:sp>
        <p:nvSpPr>
          <p:cNvPr id="10" name="Shape 8"/>
          <p:cNvSpPr/>
          <p:nvPr/>
        </p:nvSpPr>
        <p:spPr>
          <a:xfrm>
            <a:off x="4800600" y="1417320"/>
            <a:ext cx="73152" cy="1417320"/>
          </a:xfrm>
          <a:prstGeom prst="rect">
            <a:avLst/>
          </a:prstGeom>
          <a:solidFill>
            <a:srgbClr val="F1583B"/>
          </a:solidFill>
          <a:ln w="12700">
            <a:solidFill>
              <a:srgbClr val="F1583B"/>
            </a:solidFill>
            <a:prstDash val="solid"/>
          </a:ln>
        </p:spPr>
      </p:sp>
      <p:sp>
        <p:nvSpPr>
          <p:cNvPr id="11" name="Text 9"/>
          <p:cNvSpPr/>
          <p:nvPr/>
        </p:nvSpPr>
        <p:spPr>
          <a:xfrm>
            <a:off x="5029200" y="1554480"/>
            <a:ext cx="3566160" cy="320040"/>
          </a:xfrm>
          <a:prstGeom prst="rect">
            <a:avLst/>
          </a:prstGeom>
          <a:noFill/>
          <a:ln/>
        </p:spPr>
        <p:txBody>
          <a:bodyPr wrap="square" rtlCol="0" anchor="ctr"/>
          <a:lstStyle/>
          <a:p>
            <a:pPr indent="0" marL="0">
              <a:buNone/>
            </a:pPr>
            <a:r>
              <a:rPr lang="en-US" sz="1300" b="1" dirty="0">
                <a:solidFill>
                  <a:srgbClr val="4F4E4F"/>
                </a:solidFill>
                <a:latin typeface="Arial" pitchFamily="34" charset="0"/>
                <a:ea typeface="Arial" pitchFamily="34" charset="-122"/>
                <a:cs typeface="Arial" pitchFamily="34" charset="-120"/>
              </a:rPr>
              <a:t>Complex Interfaces</a:t>
            </a:r>
            <a:endParaRPr lang="en-US" sz="1300" dirty="0"/>
          </a:p>
        </p:txBody>
      </p:sp>
      <p:sp>
        <p:nvSpPr>
          <p:cNvPr id="12" name="Text 10"/>
          <p:cNvSpPr/>
          <p:nvPr/>
        </p:nvSpPr>
        <p:spPr>
          <a:xfrm>
            <a:off x="5029200" y="1874520"/>
            <a:ext cx="3566160" cy="822960"/>
          </a:xfrm>
          <a:prstGeom prst="rect">
            <a:avLst/>
          </a:prstGeom>
          <a:noFill/>
          <a:ln/>
        </p:spPr>
        <p:txBody>
          <a:bodyPr wrap="square" rtlCol="0" anchor="ctr"/>
          <a:lstStyle/>
          <a:p>
            <a:pPr indent="0" marL="0">
              <a:buNone/>
            </a:pPr>
            <a:r>
              <a:rPr lang="en-US" sz="1100" dirty="0">
                <a:solidFill>
                  <a:srgbClr val="8A898A"/>
                </a:solidFill>
                <a:latin typeface="Arial" pitchFamily="34" charset="0"/>
                <a:ea typeface="Arial" pitchFamily="34" charset="-122"/>
                <a:cs typeface="Arial" pitchFamily="34" charset="-120"/>
              </a:rPr>
              <a:t>Field technicians carry basic Android phones; complex UIs get abandoned immediately.</a:t>
            </a:r>
            <a:endParaRPr lang="en-US" sz="1100" dirty="0"/>
          </a:p>
        </p:txBody>
      </p:sp>
      <p:sp>
        <p:nvSpPr>
          <p:cNvPr id="13" name="Shape 11"/>
          <p:cNvSpPr/>
          <p:nvPr/>
        </p:nvSpPr>
        <p:spPr>
          <a:xfrm>
            <a:off x="502920" y="3017520"/>
            <a:ext cx="3977640" cy="1417320"/>
          </a:xfrm>
          <a:prstGeom prst="roundRect">
            <a:avLst>
              <a:gd name="adj" fmla="val 5161"/>
            </a:avLst>
          </a:prstGeom>
          <a:solidFill>
            <a:srgbClr val="FFFFFF"/>
          </a:solidFill>
          <a:ln w="12700">
            <a:solidFill>
              <a:srgbClr val="E8E8E8"/>
            </a:solidFill>
            <a:prstDash val="solid"/>
          </a:ln>
        </p:spPr>
      </p:sp>
      <p:sp>
        <p:nvSpPr>
          <p:cNvPr id="14" name="Shape 12"/>
          <p:cNvSpPr/>
          <p:nvPr/>
        </p:nvSpPr>
        <p:spPr>
          <a:xfrm>
            <a:off x="502920" y="3017520"/>
            <a:ext cx="73152" cy="1417320"/>
          </a:xfrm>
          <a:prstGeom prst="rect">
            <a:avLst/>
          </a:prstGeom>
          <a:solidFill>
            <a:srgbClr val="F1583B"/>
          </a:solidFill>
          <a:ln w="12700">
            <a:solidFill>
              <a:srgbClr val="F1583B"/>
            </a:solidFill>
            <a:prstDash val="solid"/>
          </a:ln>
        </p:spPr>
      </p:sp>
      <p:sp>
        <p:nvSpPr>
          <p:cNvPr id="15" name="Text 13"/>
          <p:cNvSpPr/>
          <p:nvPr/>
        </p:nvSpPr>
        <p:spPr>
          <a:xfrm>
            <a:off x="731520" y="3154680"/>
            <a:ext cx="3566160" cy="320040"/>
          </a:xfrm>
          <a:prstGeom prst="rect">
            <a:avLst/>
          </a:prstGeom>
          <a:noFill/>
          <a:ln/>
        </p:spPr>
        <p:txBody>
          <a:bodyPr wrap="square" rtlCol="0" anchor="ctr"/>
          <a:lstStyle/>
          <a:p>
            <a:pPr indent="0" marL="0">
              <a:buNone/>
            </a:pPr>
            <a:r>
              <a:rPr lang="en-US" sz="1300" b="1" dirty="0">
                <a:solidFill>
                  <a:srgbClr val="4F4E4F"/>
                </a:solidFill>
                <a:latin typeface="Arial" pitchFamily="34" charset="0"/>
                <a:ea typeface="Arial" pitchFamily="34" charset="-122"/>
                <a:cs typeface="Arial" pitchFamily="34" charset="-120"/>
              </a:rPr>
              <a:t>The WhatsApp Loop</a:t>
            </a:r>
            <a:endParaRPr lang="en-US" sz="1300" dirty="0"/>
          </a:p>
        </p:txBody>
      </p:sp>
      <p:sp>
        <p:nvSpPr>
          <p:cNvPr id="16" name="Text 14"/>
          <p:cNvSpPr/>
          <p:nvPr/>
        </p:nvSpPr>
        <p:spPr>
          <a:xfrm>
            <a:off x="731520" y="3474720"/>
            <a:ext cx="3566160" cy="822960"/>
          </a:xfrm>
          <a:prstGeom prst="rect">
            <a:avLst/>
          </a:prstGeom>
          <a:noFill/>
          <a:ln/>
        </p:spPr>
        <p:txBody>
          <a:bodyPr wrap="square" rtlCol="0" anchor="ctr"/>
          <a:lstStyle/>
          <a:p>
            <a:pPr indent="0" marL="0">
              <a:buNone/>
            </a:pPr>
            <a:r>
              <a:rPr lang="en-US" sz="1100" dirty="0">
                <a:solidFill>
                  <a:srgbClr val="8A898A"/>
                </a:solidFill>
                <a:latin typeface="Arial" pitchFamily="34" charset="0"/>
                <a:ea typeface="Arial" pitchFamily="34" charset="-122"/>
                <a:cs typeface="Arial" pitchFamily="34" charset="-120"/>
              </a:rPr>
              <a:t>Approvals happen on chat — no audit trail for EPA or GNPC compliance.</a:t>
            </a:r>
            <a:endParaRPr lang="en-US" sz="1100" dirty="0"/>
          </a:p>
        </p:txBody>
      </p:sp>
      <p:sp>
        <p:nvSpPr>
          <p:cNvPr id="17" name="Shape 15"/>
          <p:cNvSpPr/>
          <p:nvPr/>
        </p:nvSpPr>
        <p:spPr>
          <a:xfrm>
            <a:off x="4800600" y="3017520"/>
            <a:ext cx="3977640" cy="1417320"/>
          </a:xfrm>
          <a:prstGeom prst="roundRect">
            <a:avLst>
              <a:gd name="adj" fmla="val 5161"/>
            </a:avLst>
          </a:prstGeom>
          <a:solidFill>
            <a:srgbClr val="FFFFFF"/>
          </a:solidFill>
          <a:ln w="12700">
            <a:solidFill>
              <a:srgbClr val="E8E8E8"/>
            </a:solidFill>
            <a:prstDash val="solid"/>
          </a:ln>
        </p:spPr>
      </p:sp>
      <p:sp>
        <p:nvSpPr>
          <p:cNvPr id="18" name="Shape 16"/>
          <p:cNvSpPr/>
          <p:nvPr/>
        </p:nvSpPr>
        <p:spPr>
          <a:xfrm>
            <a:off x="4800600" y="3017520"/>
            <a:ext cx="73152" cy="1417320"/>
          </a:xfrm>
          <a:prstGeom prst="rect">
            <a:avLst/>
          </a:prstGeom>
          <a:solidFill>
            <a:srgbClr val="F1583B"/>
          </a:solidFill>
          <a:ln w="12700">
            <a:solidFill>
              <a:srgbClr val="F1583B"/>
            </a:solidFill>
            <a:prstDash val="solid"/>
          </a:ln>
        </p:spPr>
      </p:sp>
      <p:sp>
        <p:nvSpPr>
          <p:cNvPr id="19" name="Text 17"/>
          <p:cNvSpPr/>
          <p:nvPr/>
        </p:nvSpPr>
        <p:spPr>
          <a:xfrm>
            <a:off x="5029200" y="3154680"/>
            <a:ext cx="3566160" cy="320040"/>
          </a:xfrm>
          <a:prstGeom prst="rect">
            <a:avLst/>
          </a:prstGeom>
          <a:noFill/>
          <a:ln/>
        </p:spPr>
        <p:txBody>
          <a:bodyPr wrap="square" rtlCol="0" anchor="ctr"/>
          <a:lstStyle/>
          <a:p>
            <a:pPr indent="0" marL="0">
              <a:buNone/>
            </a:pPr>
            <a:r>
              <a:rPr lang="en-US" sz="1300" b="1" dirty="0">
                <a:solidFill>
                  <a:srgbClr val="4F4E4F"/>
                </a:solidFill>
                <a:latin typeface="Arial" pitchFamily="34" charset="0"/>
                <a:ea typeface="Arial" pitchFamily="34" charset="-122"/>
                <a:cs typeface="Arial" pitchFamily="34" charset="-120"/>
              </a:rPr>
              <a:t>Currency &amp; Logistics</a:t>
            </a:r>
            <a:endParaRPr lang="en-US" sz="1300" dirty="0"/>
          </a:p>
        </p:txBody>
      </p:sp>
      <p:sp>
        <p:nvSpPr>
          <p:cNvPr id="20" name="Text 18"/>
          <p:cNvSpPr/>
          <p:nvPr/>
        </p:nvSpPr>
        <p:spPr>
          <a:xfrm>
            <a:off x="5029200" y="3474720"/>
            <a:ext cx="3566160" cy="822960"/>
          </a:xfrm>
          <a:prstGeom prst="rect">
            <a:avLst/>
          </a:prstGeom>
          <a:noFill/>
          <a:ln/>
        </p:spPr>
        <p:txBody>
          <a:bodyPr wrap="square" rtlCol="0" anchor="ctr"/>
          <a:lstStyle/>
          <a:p>
            <a:pPr indent="0" marL="0">
              <a:buNone/>
            </a:pPr>
            <a:r>
              <a:rPr lang="en-US" sz="1100" dirty="0">
                <a:solidFill>
                  <a:srgbClr val="8A898A"/>
                </a:solidFill>
                <a:latin typeface="Arial" pitchFamily="34" charset="0"/>
                <a:ea typeface="Arial" pitchFamily="34" charset="-122"/>
                <a:cs typeface="Arial" pitchFamily="34" charset="-120"/>
              </a:rPr>
              <a:t>USD pricing ($50–$200/user/mo) with no GHS procurement or local vendor tracking.</a:t>
            </a:r>
            <a:endParaRPr lang="en-US" sz="1100" dirty="0"/>
          </a:p>
        </p:txBody>
      </p:sp>
      <p:pic>
        <p:nvPicPr>
          <p:cNvPr id="21" name="Image 0" descr="C:\Users\Duapa Werkspace 010\Desktop\MantroOps\docs\presentation-assets\mining-site.jpg">    </p:cNvPr>
          <p:cNvPicPr>
            <a:picLocks noChangeAspect="1"/>
          </p:cNvPicPr>
          <p:nvPr/>
        </p:nvPicPr>
        <p:blipFill>
          <a:blip r:embed="rId1"/>
          <a:srcRect l="0" r="0" t="0" b="0"/>
          <a:stretch/>
        </p:blipFill>
        <p:spPr>
          <a:xfrm>
            <a:off x="6583680" y="3977640"/>
            <a:ext cx="2057400" cy="594360"/>
          </a:xfrm>
          <a:prstGeom prst="rect">
            <a:avLst/>
          </a:prstGeom>
        </p:spPr>
      </p:pic>
      <p:sp>
        <p:nvSpPr>
          <p:cNvPr id="22" name="Text 19"/>
          <p:cNvSpPr/>
          <p:nvPr/>
        </p:nvSpPr>
        <p:spPr>
          <a:xfrm>
            <a:off x="457200" y="4709160"/>
            <a:ext cx="5486400" cy="274320"/>
          </a:xfrm>
          <a:prstGeom prst="rect">
            <a:avLst/>
          </a:prstGeom>
          <a:noFill/>
          <a:ln/>
        </p:spPr>
        <p:txBody>
          <a:bodyPr wrap="square" rtlCol="0" anchor="ctr"/>
          <a:lstStyle/>
          <a:p>
            <a:pPr indent="0" marL="0">
              <a:buNone/>
            </a:pPr>
            <a:r>
              <a:rPr lang="en-US" sz="800" dirty="0">
                <a:solidFill>
                  <a:srgbClr val="8A898A"/>
                </a:solidFill>
                <a:latin typeface="Arial" pitchFamily="34" charset="0"/>
                <a:ea typeface="Arial" pitchFamily="34" charset="-122"/>
                <a:cs typeface="Arial" pitchFamily="34" charset="-120"/>
              </a:rPr>
              <a:t>mantroOps  ·  Project Kickoff  ·  June 2025</a:t>
            </a:r>
            <a:endParaRPr lang="en-US" sz="800" dirty="0"/>
          </a:p>
        </p:txBody>
      </p:sp>
      <p:sp>
        <p:nvSpPr>
          <p:cNvPr id="23" name="Text 20"/>
          <p:cNvSpPr/>
          <p:nvPr/>
        </p:nvSpPr>
        <p:spPr>
          <a:xfrm>
            <a:off x="7772400" y="4709160"/>
            <a:ext cx="914400" cy="274320"/>
          </a:xfrm>
          <a:prstGeom prst="rect">
            <a:avLst/>
          </a:prstGeom>
          <a:noFill/>
          <a:ln/>
        </p:spPr>
        <p:txBody>
          <a:bodyPr wrap="square" rtlCol="0" anchor="ctr"/>
          <a:lstStyle/>
          <a:p>
            <a:pPr algn="r" indent="0" marL="0">
              <a:buNone/>
            </a:pPr>
            <a:r>
              <a:rPr lang="en-US" sz="800" dirty="0">
                <a:solidFill>
                  <a:srgbClr val="8A898A"/>
                </a:solidFill>
                <a:latin typeface="Arial" pitchFamily="34" charset="0"/>
                <a:ea typeface="Arial" pitchFamily="34" charset="-122"/>
                <a:cs typeface="Arial" pitchFamily="34" charset="-120"/>
              </a:rPr>
              <a:t>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0A691"/>
          </a:solidFill>
          <a:ln w="12700">
            <a:solidFill>
              <a:srgbClr val="00A691"/>
            </a:solidFill>
            <a:prstDash val="solid"/>
          </a:ln>
        </p:spPr>
      </p:sp>
      <p:sp>
        <p:nvSpPr>
          <p:cNvPr id="3" name="Text 1"/>
          <p:cNvSpPr/>
          <p:nvPr/>
        </p:nvSpPr>
        <p:spPr>
          <a:xfrm>
            <a:off x="502920" y="411480"/>
            <a:ext cx="5029200" cy="640080"/>
          </a:xfrm>
          <a:prstGeom prst="rect">
            <a:avLst/>
          </a:prstGeom>
          <a:noFill/>
          <a:ln/>
        </p:spPr>
        <p:txBody>
          <a:bodyPr wrap="square" rtlCol="0" anchor="ctr"/>
          <a:lstStyle/>
          <a:p>
            <a:pPr indent="0" marL="0">
              <a:buNone/>
            </a:pPr>
            <a:r>
              <a:rPr lang="en-US" sz="2800" b="1" dirty="0">
                <a:solidFill>
                  <a:srgbClr val="4F4E4F"/>
                </a:solidFill>
                <a:latin typeface="Arial" pitchFamily="34" charset="0"/>
                <a:ea typeface="Arial" pitchFamily="34" charset="-122"/>
                <a:cs typeface="Arial" pitchFamily="34" charset="-120"/>
              </a:rPr>
              <a:t>How mantroOps Solves It</a:t>
            </a:r>
            <a:endParaRPr lang="en-US" sz="2800" dirty="0"/>
          </a:p>
        </p:txBody>
      </p:sp>
      <p:sp>
        <p:nvSpPr>
          <p:cNvPr id="4" name="Text 2"/>
          <p:cNvSpPr/>
          <p:nvPr/>
        </p:nvSpPr>
        <p:spPr>
          <a:xfrm>
            <a:off x="502920" y="1097280"/>
            <a:ext cx="5303520" cy="502920"/>
          </a:xfrm>
          <a:prstGeom prst="rect">
            <a:avLst/>
          </a:prstGeom>
          <a:noFill/>
          <a:ln/>
        </p:spPr>
        <p:txBody>
          <a:bodyPr wrap="square" rtlCol="0" anchor="ctr"/>
          <a:lstStyle/>
          <a:p>
            <a:pPr indent="0" marL="0">
              <a:buNone/>
            </a:pPr>
            <a:r>
              <a:rPr lang="en-US" sz="1300" i="1" dirty="0">
                <a:solidFill>
                  <a:srgbClr val="8A898A"/>
                </a:solidFill>
                <a:latin typeface="Arial" pitchFamily="34" charset="0"/>
                <a:ea typeface="Arial" pitchFamily="34" charset="-122"/>
                <a:cs typeface="Arial" pitchFamily="34" charset="-120"/>
              </a:rPr>
              <a:t>One Product, Two Experiences</a:t>
            </a:r>
            <a:endParaRPr lang="en-US" sz="1300" dirty="0"/>
          </a:p>
        </p:txBody>
      </p:sp>
      <p:sp>
        <p:nvSpPr>
          <p:cNvPr id="5" name="Text 3"/>
          <p:cNvSpPr/>
          <p:nvPr/>
        </p:nvSpPr>
        <p:spPr>
          <a:xfrm>
            <a:off x="502920" y="1234440"/>
            <a:ext cx="7772400" cy="320040"/>
          </a:xfrm>
          <a:prstGeom prst="rect">
            <a:avLst/>
          </a:prstGeom>
          <a:noFill/>
          <a:ln/>
        </p:spPr>
        <p:txBody>
          <a:bodyPr wrap="square" rtlCol="0" anchor="ctr"/>
          <a:lstStyle/>
          <a:p>
            <a:pPr indent="0" marL="0">
              <a:buNone/>
            </a:pPr>
            <a:r>
              <a:rPr lang="en-US" sz="1300" b="1" dirty="0">
                <a:solidFill>
                  <a:srgbClr val="00A691"/>
                </a:solidFill>
                <a:latin typeface="Arial" pitchFamily="34" charset="0"/>
                <a:ea typeface="Arial" pitchFamily="34" charset="-122"/>
                <a:cs typeface="Arial" pitchFamily="34" charset="-120"/>
              </a:rPr>
              <a:t>Adoption-Driven Design</a:t>
            </a:r>
            <a:endParaRPr lang="en-US" sz="1300" dirty="0"/>
          </a:p>
        </p:txBody>
      </p:sp>
      <p:sp>
        <p:nvSpPr>
          <p:cNvPr id="6" name="Text 4"/>
          <p:cNvSpPr/>
          <p:nvPr/>
        </p:nvSpPr>
        <p:spPr>
          <a:xfrm>
            <a:off x="502920" y="1554480"/>
            <a:ext cx="7772400" cy="365760"/>
          </a:xfrm>
          <a:prstGeom prst="rect">
            <a:avLst/>
          </a:prstGeom>
          <a:noFill/>
          <a:ln/>
        </p:spPr>
        <p:txBody>
          <a:bodyPr wrap="square" rtlCol="0" anchor="ctr"/>
          <a:lstStyle/>
          <a:p>
            <a:pPr indent="0" marL="0">
              <a:buNone/>
            </a:pPr>
            <a:r>
              <a:rPr lang="en-US" sz="1100" dirty="0">
                <a:solidFill>
                  <a:srgbClr val="8A898A"/>
                </a:solidFill>
                <a:latin typeface="Arial" pitchFamily="34" charset="0"/>
                <a:ea typeface="Arial" pitchFamily="34" charset="-122"/>
                <a:cs typeface="Arial" pitchFamily="34" charset="-120"/>
              </a:rPr>
              <a:t>A responsive system where the software adapts to the firm — not the other way around.</a:t>
            </a:r>
            <a:endParaRPr lang="en-US" sz="1100" dirty="0"/>
          </a:p>
        </p:txBody>
      </p:sp>
      <p:sp>
        <p:nvSpPr>
          <p:cNvPr id="7" name="Shape 5"/>
          <p:cNvSpPr/>
          <p:nvPr/>
        </p:nvSpPr>
        <p:spPr>
          <a:xfrm>
            <a:off x="502920" y="2057400"/>
            <a:ext cx="3840480" cy="2331720"/>
          </a:xfrm>
          <a:prstGeom prst="roundRect">
            <a:avLst>
              <a:gd name="adj" fmla="val 3922"/>
            </a:avLst>
          </a:prstGeom>
          <a:solidFill>
            <a:srgbClr val="F5F5F5"/>
          </a:solidFill>
          <a:ln w="12700">
            <a:solidFill>
              <a:srgbClr val="E0E0E0"/>
            </a:solidFill>
            <a:prstDash val="solid"/>
          </a:ln>
        </p:spPr>
      </p:sp>
      <p:sp>
        <p:nvSpPr>
          <p:cNvPr id="8" name="Text 6"/>
          <p:cNvSpPr/>
          <p:nvPr/>
        </p:nvSpPr>
        <p:spPr>
          <a:xfrm>
            <a:off x="731520" y="2240280"/>
            <a:ext cx="3383280" cy="365760"/>
          </a:xfrm>
          <a:prstGeom prst="rect">
            <a:avLst/>
          </a:prstGeom>
          <a:noFill/>
          <a:ln/>
        </p:spPr>
        <p:txBody>
          <a:bodyPr wrap="square" rtlCol="0" anchor="ctr"/>
          <a:lstStyle/>
          <a:p>
            <a:pPr indent="0" marL="0">
              <a:buNone/>
            </a:pPr>
            <a:r>
              <a:rPr lang="en-US" sz="1600" b="1" dirty="0">
                <a:solidFill>
                  <a:srgbClr val="4F4E4F"/>
                </a:solidFill>
                <a:latin typeface="Arial" pitchFamily="34" charset="0"/>
                <a:ea typeface="Arial" pitchFamily="34" charset="-122"/>
                <a:cs typeface="Arial" pitchFamily="34" charset="-120"/>
              </a:rPr>
              <a:t>Desktop Dashboard</a:t>
            </a:r>
            <a:endParaRPr lang="en-US" sz="1600" dirty="0"/>
          </a:p>
        </p:txBody>
      </p:sp>
      <p:sp>
        <p:nvSpPr>
          <p:cNvPr id="9" name="Text 7"/>
          <p:cNvSpPr/>
          <p:nvPr/>
        </p:nvSpPr>
        <p:spPr>
          <a:xfrm>
            <a:off x="731520" y="2697480"/>
            <a:ext cx="3291840" cy="1371600"/>
          </a:xfrm>
          <a:prstGeom prst="rect">
            <a:avLst/>
          </a:prstGeom>
          <a:noFill/>
          <a:ln/>
        </p:spPr>
        <p:txBody>
          <a:bodyPr wrap="square" rtlCol="0" anchor="ctr"/>
          <a:lstStyle/>
          <a:p>
            <a:pPr marL="342900" indent="-342900">
              <a:buSzPct val="100000"/>
              <a:buChar char="•"/>
            </a:pPr>
            <a:r>
              <a:rPr lang="en-US" sz="1200" dirty="0">
                <a:solidFill>
                  <a:srgbClr val="4F4E4F"/>
                </a:solidFill>
                <a:latin typeface="Arial" pitchFamily="34" charset="0"/>
                <a:ea typeface="Arial" pitchFamily="34" charset="-122"/>
                <a:cs typeface="Arial" pitchFamily="34" charset="-120"/>
              </a:rPr>
              <a:t>Built for managers and supervisors — full asset setup, configuration, and compliance reporting.</a:t>
            </a:r>
            <a:endParaRPr lang="en-US" sz="1200" dirty="0"/>
          </a:p>
        </p:txBody>
      </p:sp>
      <p:pic>
        <p:nvPicPr>
          <p:cNvPr id="10" name="Image 0" descr="C:\Users\Duapa Werkspace 010\Desktop\MantroOps\docs\presentation-assets\team-meeting.jpg">    </p:cNvPr>
          <p:cNvPicPr>
            <a:picLocks noChangeAspect="1"/>
          </p:cNvPicPr>
          <p:nvPr/>
        </p:nvPicPr>
        <p:blipFill>
          <a:blip r:embed="rId1"/>
          <a:srcRect l="0" r="0" t="0" b="0"/>
          <a:stretch/>
        </p:blipFill>
        <p:spPr>
          <a:xfrm>
            <a:off x="731520" y="3520440"/>
            <a:ext cx="3291840" cy="685800"/>
          </a:xfrm>
          <a:prstGeom prst="rect">
            <a:avLst/>
          </a:prstGeom>
        </p:spPr>
      </p:pic>
      <p:sp>
        <p:nvSpPr>
          <p:cNvPr id="11" name="Shape 8"/>
          <p:cNvSpPr/>
          <p:nvPr/>
        </p:nvSpPr>
        <p:spPr>
          <a:xfrm>
            <a:off x="4800600" y="2057400"/>
            <a:ext cx="3840480" cy="2331720"/>
          </a:xfrm>
          <a:prstGeom prst="roundRect">
            <a:avLst>
              <a:gd name="adj" fmla="val 3922"/>
            </a:avLst>
          </a:prstGeom>
          <a:solidFill>
            <a:srgbClr val="00A691"/>
          </a:solidFill>
          <a:ln w="12700">
            <a:solidFill>
              <a:srgbClr val="00A691"/>
            </a:solidFill>
            <a:prstDash val="solid"/>
          </a:ln>
        </p:spPr>
      </p:sp>
      <p:sp>
        <p:nvSpPr>
          <p:cNvPr id="12" name="Text 9"/>
          <p:cNvSpPr/>
          <p:nvPr/>
        </p:nvSpPr>
        <p:spPr>
          <a:xfrm>
            <a:off x="5029200" y="2240280"/>
            <a:ext cx="3383280" cy="36576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Field-Ready Mobile</a:t>
            </a:r>
            <a:endParaRPr lang="en-US" sz="1600" dirty="0"/>
          </a:p>
        </p:txBody>
      </p:sp>
      <p:sp>
        <p:nvSpPr>
          <p:cNvPr id="13" name="Text 10"/>
          <p:cNvSpPr/>
          <p:nvPr/>
        </p:nvSpPr>
        <p:spPr>
          <a:xfrm>
            <a:off x="5029200" y="2697480"/>
            <a:ext cx="3291840" cy="1371600"/>
          </a:xfrm>
          <a:prstGeom prst="rect">
            <a:avLst/>
          </a:prstGeom>
          <a:noFill/>
          <a:ln/>
        </p:spPr>
        <p:txBody>
          <a:bodyPr wrap="square" rtlCol="0" anchor="ctr"/>
          <a:lstStyle/>
          <a:p>
            <a:pPr marL="342900" indent="-342900">
              <a:buSzPct val="100000"/>
              <a:buChar char="•"/>
            </a:pPr>
            <a:r>
              <a:rPr lang="en-US" sz="1200" dirty="0">
                <a:solidFill>
                  <a:srgbClr val="FFFFFF"/>
                </a:solidFill>
                <a:latin typeface="Arial" pitchFamily="34" charset="0"/>
                <a:ea typeface="Arial" pitchFamily="34" charset="-122"/>
                <a:cs typeface="Arial" pitchFamily="34" charset="-120"/>
              </a:rPr>
              <a:t>Simple app for technicians — scan QR codes, receive work orders, and log jobs offline with automatic sync.</a:t>
            </a:r>
            <a:endParaRPr lang="en-US" sz="1200" dirty="0"/>
          </a:p>
        </p:txBody>
      </p:sp>
      <p:pic>
        <p:nvPicPr>
          <p:cNvPr id="14" name="Image 1" descr="C:\Users\Duapa Werkspace 010\Desktop\MantroOps\docs\presentation-assets\mobile-field.jpg">    </p:cNvPr>
          <p:cNvPicPr>
            <a:picLocks noChangeAspect="1"/>
          </p:cNvPicPr>
          <p:nvPr/>
        </p:nvPicPr>
        <p:blipFill>
          <a:blip r:embed="rId2"/>
          <a:srcRect l="0" r="0" t="0" b="0"/>
          <a:stretch/>
        </p:blipFill>
        <p:spPr>
          <a:xfrm>
            <a:off x="5029200" y="3520440"/>
            <a:ext cx="3291840" cy="685800"/>
          </a:xfrm>
          <a:prstGeom prst="rect">
            <a:avLst/>
          </a:prstGeom>
        </p:spPr>
      </p:pic>
      <p:sp>
        <p:nvSpPr>
          <p:cNvPr id="15" name="Text 11"/>
          <p:cNvSpPr/>
          <p:nvPr/>
        </p:nvSpPr>
        <p:spPr>
          <a:xfrm>
            <a:off x="457200" y="4709160"/>
            <a:ext cx="5486400" cy="274320"/>
          </a:xfrm>
          <a:prstGeom prst="rect">
            <a:avLst/>
          </a:prstGeom>
          <a:noFill/>
          <a:ln/>
        </p:spPr>
        <p:txBody>
          <a:bodyPr wrap="square" rtlCol="0" anchor="ctr"/>
          <a:lstStyle/>
          <a:p>
            <a:pPr indent="0" marL="0">
              <a:buNone/>
            </a:pPr>
            <a:r>
              <a:rPr lang="en-US" sz="800" dirty="0">
                <a:solidFill>
                  <a:srgbClr val="8A898A"/>
                </a:solidFill>
                <a:latin typeface="Arial" pitchFamily="34" charset="0"/>
                <a:ea typeface="Arial" pitchFamily="34" charset="-122"/>
                <a:cs typeface="Arial" pitchFamily="34" charset="-120"/>
              </a:rPr>
              <a:t>mantroOps  ·  Project Kickoff  ·  June 2025</a:t>
            </a:r>
            <a:endParaRPr lang="en-US" sz="800" dirty="0"/>
          </a:p>
        </p:txBody>
      </p:sp>
      <p:sp>
        <p:nvSpPr>
          <p:cNvPr id="16" name="Text 12"/>
          <p:cNvSpPr/>
          <p:nvPr/>
        </p:nvSpPr>
        <p:spPr>
          <a:xfrm>
            <a:off x="7772400" y="4709160"/>
            <a:ext cx="914400" cy="274320"/>
          </a:xfrm>
          <a:prstGeom prst="rect">
            <a:avLst/>
          </a:prstGeom>
          <a:noFill/>
          <a:ln/>
        </p:spPr>
        <p:txBody>
          <a:bodyPr wrap="square" rtlCol="0" anchor="ctr"/>
          <a:lstStyle/>
          <a:p>
            <a:pPr algn="r" indent="0" marL="0">
              <a:buNone/>
            </a:pPr>
            <a:r>
              <a:rPr lang="en-US" sz="800" dirty="0">
                <a:solidFill>
                  <a:srgbClr val="8A898A"/>
                </a:solidFill>
                <a:latin typeface="Arial" pitchFamily="34" charset="0"/>
                <a:ea typeface="Arial" pitchFamily="34" charset="-122"/>
                <a:cs typeface="Arial" pitchFamily="34" charset="-120"/>
              </a:rPr>
              <a:t>04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0A691"/>
          </a:solidFill>
          <a:ln w="12700">
            <a:solidFill>
              <a:srgbClr val="00A691"/>
            </a:solidFill>
            <a:prstDash val="solid"/>
          </a:ln>
        </p:spPr>
      </p:sp>
      <p:sp>
        <p:nvSpPr>
          <p:cNvPr id="3" name="Text 1"/>
          <p:cNvSpPr/>
          <p:nvPr/>
        </p:nvSpPr>
        <p:spPr>
          <a:xfrm>
            <a:off x="502920" y="411480"/>
            <a:ext cx="5029200" cy="640080"/>
          </a:xfrm>
          <a:prstGeom prst="rect">
            <a:avLst/>
          </a:prstGeom>
          <a:noFill/>
          <a:ln/>
        </p:spPr>
        <p:txBody>
          <a:bodyPr wrap="square" rtlCol="0" anchor="ctr"/>
          <a:lstStyle/>
          <a:p>
            <a:pPr indent="0" marL="0">
              <a:buNone/>
            </a:pPr>
            <a:r>
              <a:rPr lang="en-US" sz="2800" b="1" dirty="0">
                <a:solidFill>
                  <a:srgbClr val="4F4E4F"/>
                </a:solidFill>
                <a:latin typeface="Arial" pitchFamily="34" charset="0"/>
                <a:ea typeface="Arial" pitchFamily="34" charset="-122"/>
                <a:cs typeface="Arial" pitchFamily="34" charset="-120"/>
              </a:rPr>
              <a:t>Where We Win</a:t>
            </a:r>
            <a:endParaRPr lang="en-US" sz="2800" dirty="0"/>
          </a:p>
        </p:txBody>
      </p:sp>
      <p:sp>
        <p:nvSpPr>
          <p:cNvPr id="4" name="Text 2"/>
          <p:cNvSpPr/>
          <p:nvPr/>
        </p:nvSpPr>
        <p:spPr>
          <a:xfrm>
            <a:off x="502920" y="1097280"/>
            <a:ext cx="5303520" cy="502920"/>
          </a:xfrm>
          <a:prstGeom prst="rect">
            <a:avLst/>
          </a:prstGeom>
          <a:noFill/>
          <a:ln/>
        </p:spPr>
        <p:txBody>
          <a:bodyPr wrap="square" rtlCol="0" anchor="ctr"/>
          <a:lstStyle/>
          <a:p>
            <a:pPr indent="0" marL="0">
              <a:buNone/>
            </a:pPr>
            <a:r>
              <a:rPr lang="en-US" sz="1300" i="1" dirty="0">
                <a:solidFill>
                  <a:srgbClr val="8A898A"/>
                </a:solidFill>
                <a:latin typeface="Arial" pitchFamily="34" charset="0"/>
                <a:ea typeface="Arial" pitchFamily="34" charset="-122"/>
                <a:cs typeface="Arial" pitchFamily="34" charset="-120"/>
              </a:rPr>
              <a:t>Feature Comparison Matrix</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8138160" cy="3200400"/>
        </p:xfrm>
        <a:graphic>
          <a:graphicData uri="http://schemas.openxmlformats.org/drawingml/2006/table">
            <a:tbl>
              <a:tblPr/>
              <a:tblGrid>
                <a:gridCol w="1645920"/>
                <a:gridCol w="3017520"/>
                <a:gridCol w="3474720"/>
              </a:tblGrid>
              <a:tr h="475488">
                <a:tc>
                  <a:txBody>
                    <a:bodyPr/>
                    <a:lstStyle/>
                    <a:p>
                      <a:pPr indent="0" marL="0">
                        <a:buNone/>
                      </a:pPr>
                      <a:r>
                        <a:rPr lang="en-US" sz="1100" b="1" dirty="0">
                          <a:solidFill>
                            <a:srgbClr val="FFFFFF"/>
                          </a:solidFill>
                          <a:latin typeface="Arial" pitchFamily="34" charset="0"/>
                          <a:ea typeface="Arial" pitchFamily="34" charset="-122"/>
                          <a:cs typeface="Arial" pitchFamily="34" charset="-120"/>
                        </a:rPr>
                        <a:t>Factor</a:t>
                      </a:r>
                      <a:endParaRPr lang="en-US" sz="1100" dirty="0">
                        <a:latin typeface="Arial" charset="0"/>
                        <a:ea typeface="Arial" charset="0"/>
                        <a:cs typeface="Arial"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F4E4F"/>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Global / Regional Tools</a:t>
                      </a:r>
                      <a:endParaRPr lang="en-US" sz="1100" dirty="0">
                        <a:latin typeface="Arial" charset="0"/>
                        <a:ea typeface="Arial" charset="0"/>
                        <a:cs typeface="Arial"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F4E4F"/>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mantroOps</a:t>
                      </a:r>
                      <a:endParaRPr lang="en-US" sz="1100" dirty="0">
                        <a:latin typeface="Arial" charset="0"/>
                        <a:ea typeface="Arial" charset="0"/>
                        <a:cs typeface="Arial"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1583B"/>
                    </a:solidFill>
                  </a:tcPr>
                </a:tc>
              </a:tr>
              <a:tr h="475488">
                <a:tc>
                  <a:txBody>
                    <a:bodyPr/>
                    <a:lstStyle/>
                    <a:p>
                      <a:pPr indent="0" marL="0">
                        <a:buNone/>
                      </a:pPr>
                      <a:r>
                        <a:rPr lang="en-US" sz="1100" dirty="0">
                          <a:solidFill>
                            <a:srgbClr val="4F4E4F"/>
                          </a:solidFill>
                          <a:latin typeface="Arial" pitchFamily="34" charset="0"/>
                          <a:ea typeface="Arial" pitchFamily="34" charset="-122"/>
                          <a:cs typeface="Arial" pitchFamily="34" charset="-120"/>
                        </a:rPr>
                        <a:t>Connectivity</a:t>
                      </a:r>
                      <a:endParaRPr lang="en-US" sz="1100" dirty="0">
                        <a:latin typeface="Arial" charset="0"/>
                        <a:ea typeface="Arial" charset="0"/>
                        <a:cs typeface="Arial"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1100" dirty="0">
                          <a:solidFill>
                            <a:srgbClr val="4F4E4F"/>
                          </a:solidFill>
                          <a:latin typeface="Arial" pitchFamily="34" charset="0"/>
                          <a:ea typeface="Arial" pitchFamily="34" charset="-122"/>
                          <a:cs typeface="Arial" pitchFamily="34" charset="-120"/>
                        </a:rPr>
                        <a:t>No / limited offline capability</a:t>
                      </a:r>
                      <a:endParaRPr lang="en-US" sz="1100" dirty="0">
                        <a:latin typeface="Arial" charset="0"/>
                        <a:ea typeface="Arial" charset="0"/>
                        <a:cs typeface="Arial"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1100" b="1" dirty="0">
                          <a:solidFill>
                            <a:srgbClr val="00A691"/>
                          </a:solidFill>
                          <a:latin typeface="Arial" pitchFamily="34" charset="0"/>
                          <a:ea typeface="Arial" pitchFamily="34" charset="-122"/>
                          <a:cs typeface="Arial" pitchFamily="34" charset="-120"/>
                        </a:rPr>
                        <a:t>Full offline-first capability</a:t>
                      </a:r>
                      <a:endParaRPr lang="en-US" sz="1100" dirty="0">
                        <a:latin typeface="Arial" charset="0"/>
                        <a:ea typeface="Arial" charset="0"/>
                        <a:cs typeface="Arial"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475488">
                <a:tc>
                  <a:txBody>
                    <a:bodyPr/>
                    <a:lstStyle/>
                    <a:p>
                      <a:pPr indent="0" marL="0">
                        <a:buNone/>
                      </a:pPr>
                      <a:r>
                        <a:rPr lang="en-US" sz="1100" dirty="0">
                          <a:solidFill>
                            <a:srgbClr val="4F4E4F"/>
                          </a:solidFill>
                          <a:latin typeface="Arial" pitchFamily="34" charset="0"/>
                          <a:ea typeface="Arial" pitchFamily="34" charset="-122"/>
                          <a:cs typeface="Arial" pitchFamily="34" charset="-120"/>
                        </a:rPr>
                        <a:t>Alerts &amp; Reminders</a:t>
                      </a:r>
                      <a:endParaRPr lang="en-US" sz="1100" dirty="0">
                        <a:latin typeface="Arial" charset="0"/>
                        <a:ea typeface="Arial" charset="0"/>
                        <a:cs typeface="Arial"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1100" dirty="0">
                          <a:solidFill>
                            <a:srgbClr val="4F4E4F"/>
                          </a:solidFill>
                          <a:latin typeface="Arial" pitchFamily="34" charset="0"/>
                          <a:ea typeface="Arial" pitchFamily="34" charset="-122"/>
                          <a:cs typeface="Arial" pitchFamily="34" charset="-120"/>
                        </a:rPr>
                        <a:t>Email or app notifications only</a:t>
                      </a:r>
                      <a:endParaRPr lang="en-US" sz="1100" dirty="0">
                        <a:latin typeface="Arial" charset="0"/>
                        <a:ea typeface="Arial" charset="0"/>
                        <a:cs typeface="Arial"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1100" b="1" dirty="0">
                          <a:solidFill>
                            <a:srgbClr val="00A691"/>
                          </a:solidFill>
                          <a:latin typeface="Arial" pitchFamily="34" charset="0"/>
                          <a:ea typeface="Arial" pitchFamily="34" charset="-122"/>
                          <a:cs typeface="Arial" pitchFamily="34" charset="-120"/>
                        </a:rPr>
                        <a:t>Built-in WhatsApp &amp; SMS alerts</a:t>
                      </a:r>
                      <a:endParaRPr lang="en-US" sz="1100" dirty="0">
                        <a:latin typeface="Arial" charset="0"/>
                        <a:ea typeface="Arial" charset="0"/>
                        <a:cs typeface="Arial"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475488">
                <a:tc>
                  <a:txBody>
                    <a:bodyPr/>
                    <a:lstStyle/>
                    <a:p>
                      <a:pPr indent="0" marL="0">
                        <a:buNone/>
                      </a:pPr>
                      <a:r>
                        <a:rPr lang="en-US" sz="1100" dirty="0">
                          <a:solidFill>
                            <a:srgbClr val="4F4E4F"/>
                          </a:solidFill>
                          <a:latin typeface="Arial" pitchFamily="34" charset="0"/>
                          <a:ea typeface="Arial" pitchFamily="34" charset="-122"/>
                          <a:cs typeface="Arial" pitchFamily="34" charset="-120"/>
                        </a:rPr>
                        <a:t>Procurement</a:t>
                      </a:r>
                      <a:endParaRPr lang="en-US" sz="1100" dirty="0">
                        <a:latin typeface="Arial" charset="0"/>
                        <a:ea typeface="Arial" charset="0"/>
                        <a:cs typeface="Arial"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1100" dirty="0">
                          <a:solidFill>
                            <a:srgbClr val="4F4E4F"/>
                          </a:solidFill>
                          <a:latin typeface="Arial" pitchFamily="34" charset="0"/>
                          <a:ea typeface="Arial" pitchFamily="34" charset="-122"/>
                          <a:cs typeface="Arial" pitchFamily="34" charset="-120"/>
                        </a:rPr>
                        <a:t>USD only, no local vendor tracking</a:t>
                      </a:r>
                      <a:endParaRPr lang="en-US" sz="1100" dirty="0">
                        <a:latin typeface="Arial" charset="0"/>
                        <a:ea typeface="Arial" charset="0"/>
                        <a:cs typeface="Arial"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1100" b="1" dirty="0">
                          <a:solidFill>
                            <a:srgbClr val="00A691"/>
                          </a:solidFill>
                          <a:latin typeface="Arial" pitchFamily="34" charset="0"/>
                          <a:ea typeface="Arial" pitchFamily="34" charset="-122"/>
                          <a:cs typeface="Arial" pitchFamily="34" charset="-120"/>
                        </a:rPr>
                        <a:t>GHS + local suppliers</a:t>
                      </a:r>
                      <a:endParaRPr lang="en-US" sz="1100" dirty="0">
                        <a:latin typeface="Arial" charset="0"/>
                        <a:ea typeface="Arial" charset="0"/>
                        <a:cs typeface="Arial"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475488">
                <a:tc>
                  <a:txBody>
                    <a:bodyPr/>
                    <a:lstStyle/>
                    <a:p>
                      <a:pPr indent="0" marL="0">
                        <a:buNone/>
                      </a:pPr>
                      <a:r>
                        <a:rPr lang="en-US" sz="1100" dirty="0">
                          <a:solidFill>
                            <a:srgbClr val="4F4E4F"/>
                          </a:solidFill>
                          <a:latin typeface="Arial" pitchFamily="34" charset="0"/>
                          <a:ea typeface="Arial" pitchFamily="34" charset="-122"/>
                          <a:cs typeface="Arial" pitchFamily="34" charset="-120"/>
                        </a:rPr>
                        <a:t>Compliance</a:t>
                      </a:r>
                      <a:endParaRPr lang="en-US" sz="1100" dirty="0">
                        <a:latin typeface="Arial" charset="0"/>
                        <a:ea typeface="Arial" charset="0"/>
                        <a:cs typeface="Arial"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1100" dirty="0">
                          <a:solidFill>
                            <a:srgbClr val="4F4E4F"/>
                          </a:solidFill>
                          <a:latin typeface="Arial" pitchFamily="34" charset="0"/>
                          <a:ea typeface="Arial" pitchFamily="34" charset="-122"/>
                          <a:cs typeface="Arial" pitchFamily="34" charset="-120"/>
                        </a:rPr>
                        <a:t>No local regulatory framework</a:t>
                      </a:r>
                      <a:endParaRPr lang="en-US" sz="1100" dirty="0">
                        <a:latin typeface="Arial" charset="0"/>
                        <a:ea typeface="Arial" charset="0"/>
                        <a:cs typeface="Arial"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1100" b="1" dirty="0">
                          <a:solidFill>
                            <a:srgbClr val="00A691"/>
                          </a:solidFill>
                          <a:latin typeface="Arial" pitchFamily="34" charset="0"/>
                          <a:ea typeface="Arial" pitchFamily="34" charset="-122"/>
                          <a:cs typeface="Arial" pitchFamily="34" charset="-120"/>
                        </a:rPr>
                        <a:t>One-tap EPA &amp; GNPC reporting</a:t>
                      </a:r>
                      <a:endParaRPr lang="en-US" sz="1100" dirty="0">
                        <a:latin typeface="Arial" charset="0"/>
                        <a:ea typeface="Arial" charset="0"/>
                        <a:cs typeface="Arial"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475488">
                <a:tc>
                  <a:txBody>
                    <a:bodyPr/>
                    <a:lstStyle/>
                    <a:p>
                      <a:pPr indent="0" marL="0">
                        <a:buNone/>
                      </a:pPr>
                      <a:r>
                        <a:rPr lang="en-US" sz="1100" dirty="0">
                          <a:solidFill>
                            <a:srgbClr val="4F4E4F"/>
                          </a:solidFill>
                          <a:latin typeface="Arial" pitchFamily="34" charset="0"/>
                          <a:ea typeface="Arial" pitchFamily="34" charset="-122"/>
                          <a:cs typeface="Arial" pitchFamily="34" charset="-120"/>
                        </a:rPr>
                        <a:t>Pricing &amp; Setup</a:t>
                      </a:r>
                      <a:endParaRPr lang="en-US" sz="1100" dirty="0">
                        <a:latin typeface="Arial" charset="0"/>
                        <a:ea typeface="Arial" charset="0"/>
                        <a:cs typeface="Arial"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1100" dirty="0">
                          <a:solidFill>
                            <a:srgbClr val="4F4E4F"/>
                          </a:solidFill>
                          <a:latin typeface="Arial" pitchFamily="34" charset="0"/>
                          <a:ea typeface="Arial" pitchFamily="34" charset="-122"/>
                          <a:cs typeface="Arial" pitchFamily="34" charset="-120"/>
                        </a:rPr>
                        <a:t>High USD subscription; months to onboard</a:t>
                      </a:r>
                      <a:endParaRPr lang="en-US" sz="1100" dirty="0">
                        <a:latin typeface="Arial" charset="0"/>
                        <a:ea typeface="Arial" charset="0"/>
                        <a:cs typeface="Arial"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1100" b="1" dirty="0">
                          <a:solidFill>
                            <a:srgbClr val="00A691"/>
                          </a:solidFill>
                          <a:latin typeface="Arial" pitchFamily="34" charset="0"/>
                          <a:ea typeface="Arial" pitchFamily="34" charset="-122"/>
                          <a:cs typeface="Arial" pitchFamily="34" charset="-120"/>
                        </a:rPr>
                        <a:t>Affordable GHS pricing; onboard in days</a:t>
                      </a:r>
                      <a:endParaRPr lang="en-US" sz="1100" dirty="0">
                        <a:latin typeface="Arial" charset="0"/>
                        <a:ea typeface="Arial" charset="0"/>
                        <a:cs typeface="Arial"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bl>
          </a:graphicData>
        </a:graphic>
      </p:graphicFrame>
      <p:sp>
        <p:nvSpPr>
          <p:cNvPr id="6" name="Text 3"/>
          <p:cNvSpPr/>
          <p:nvPr/>
        </p:nvSpPr>
        <p:spPr>
          <a:xfrm>
            <a:off x="457200" y="4709160"/>
            <a:ext cx="5486400" cy="274320"/>
          </a:xfrm>
          <a:prstGeom prst="rect">
            <a:avLst/>
          </a:prstGeom>
          <a:noFill/>
          <a:ln/>
        </p:spPr>
        <p:txBody>
          <a:bodyPr wrap="square" rtlCol="0" anchor="ctr"/>
          <a:lstStyle/>
          <a:p>
            <a:pPr indent="0" marL="0">
              <a:buNone/>
            </a:pPr>
            <a:r>
              <a:rPr lang="en-US" sz="800" dirty="0">
                <a:solidFill>
                  <a:srgbClr val="8A898A"/>
                </a:solidFill>
                <a:latin typeface="Arial" pitchFamily="34" charset="0"/>
                <a:ea typeface="Arial" pitchFamily="34" charset="-122"/>
                <a:cs typeface="Arial" pitchFamily="34" charset="-120"/>
              </a:rPr>
              <a:t>mantroOps  ·  Project Kickoff  ·  June 2025</a:t>
            </a:r>
            <a:endParaRPr lang="en-US" sz="800" dirty="0"/>
          </a:p>
        </p:txBody>
      </p:sp>
      <p:sp>
        <p:nvSpPr>
          <p:cNvPr id="7" name="Text 4"/>
          <p:cNvSpPr/>
          <p:nvPr/>
        </p:nvSpPr>
        <p:spPr>
          <a:xfrm>
            <a:off x="7772400" y="4709160"/>
            <a:ext cx="914400" cy="274320"/>
          </a:xfrm>
          <a:prstGeom prst="rect">
            <a:avLst/>
          </a:prstGeom>
          <a:noFill/>
          <a:ln/>
        </p:spPr>
        <p:txBody>
          <a:bodyPr wrap="square" rtlCol="0" anchor="ctr"/>
          <a:lstStyle/>
          <a:p>
            <a:pPr algn="r" indent="0" marL="0">
              <a:buNone/>
            </a:pPr>
            <a:r>
              <a:rPr lang="en-US" sz="800" dirty="0">
                <a:solidFill>
                  <a:srgbClr val="8A898A"/>
                </a:solidFill>
                <a:latin typeface="Arial" pitchFamily="34" charset="0"/>
                <a:ea typeface="Arial" pitchFamily="34" charset="-122"/>
                <a:cs typeface="Arial" pitchFamily="34" charset="-120"/>
              </a:rPr>
              <a:t>05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0A691"/>
          </a:solidFill>
          <a:ln w="12700">
            <a:solidFill>
              <a:srgbClr val="00A691"/>
            </a:solidFill>
            <a:prstDash val="solid"/>
          </a:ln>
        </p:spPr>
      </p:sp>
      <p:sp>
        <p:nvSpPr>
          <p:cNvPr id="3" name="Text 1"/>
          <p:cNvSpPr/>
          <p:nvPr/>
        </p:nvSpPr>
        <p:spPr>
          <a:xfrm>
            <a:off x="502920" y="411480"/>
            <a:ext cx="5029200" cy="640080"/>
          </a:xfrm>
          <a:prstGeom prst="rect">
            <a:avLst/>
          </a:prstGeom>
          <a:noFill/>
          <a:ln/>
        </p:spPr>
        <p:txBody>
          <a:bodyPr wrap="square" rtlCol="0" anchor="ctr"/>
          <a:lstStyle/>
          <a:p>
            <a:pPr indent="0" marL="0">
              <a:buNone/>
            </a:pPr>
            <a:r>
              <a:rPr lang="en-US" sz="2800" b="1" dirty="0">
                <a:solidFill>
                  <a:srgbClr val="4F4E4F"/>
                </a:solidFill>
                <a:latin typeface="Arial" pitchFamily="34" charset="0"/>
                <a:ea typeface="Arial" pitchFamily="34" charset="-122"/>
                <a:cs typeface="Arial" pitchFamily="34" charset="-120"/>
              </a:rPr>
              <a:t>Small Team, Fast Execution</a:t>
            </a:r>
            <a:endParaRPr lang="en-US" sz="2800" dirty="0"/>
          </a:p>
        </p:txBody>
      </p:sp>
      <p:sp>
        <p:nvSpPr>
          <p:cNvPr id="4" name="Text 2"/>
          <p:cNvSpPr/>
          <p:nvPr/>
        </p:nvSpPr>
        <p:spPr>
          <a:xfrm>
            <a:off x="502920" y="1097280"/>
            <a:ext cx="5303520" cy="502920"/>
          </a:xfrm>
          <a:prstGeom prst="rect">
            <a:avLst/>
          </a:prstGeom>
          <a:noFill/>
          <a:ln/>
        </p:spPr>
        <p:txBody>
          <a:bodyPr wrap="square" rtlCol="0" anchor="ctr"/>
          <a:lstStyle/>
          <a:p>
            <a:pPr indent="0" marL="0">
              <a:buNone/>
            </a:pPr>
            <a:r>
              <a:rPr lang="en-US" sz="1300" i="1" dirty="0">
                <a:solidFill>
                  <a:srgbClr val="8A898A"/>
                </a:solidFill>
                <a:latin typeface="Arial" pitchFamily="34" charset="0"/>
                <a:ea typeface="Arial" pitchFamily="34" charset="-122"/>
                <a:cs typeface="Arial" pitchFamily="34" charset="-120"/>
              </a:rPr>
              <a:t>Our Lean Execution Team</a:t>
            </a:r>
            <a:endParaRPr lang="en-US" sz="1300" dirty="0"/>
          </a:p>
        </p:txBody>
      </p:sp>
      <p:sp>
        <p:nvSpPr>
          <p:cNvPr id="5" name="Shape 3"/>
          <p:cNvSpPr/>
          <p:nvPr/>
        </p:nvSpPr>
        <p:spPr>
          <a:xfrm>
            <a:off x="502920" y="1417320"/>
            <a:ext cx="3977640" cy="1508760"/>
          </a:xfrm>
          <a:prstGeom prst="roundRect">
            <a:avLst>
              <a:gd name="adj" fmla="val 4848"/>
            </a:avLst>
          </a:prstGeom>
          <a:solidFill>
            <a:srgbClr val="FFFFFF"/>
          </a:solidFill>
          <a:ln w="12700">
            <a:solidFill>
              <a:srgbClr val="E0E0E0"/>
            </a:solidFill>
            <a:prstDash val="solid"/>
          </a:ln>
        </p:spPr>
      </p:sp>
      <p:sp>
        <p:nvSpPr>
          <p:cNvPr id="6" name="Text 4"/>
          <p:cNvSpPr/>
          <p:nvPr/>
        </p:nvSpPr>
        <p:spPr>
          <a:xfrm>
            <a:off x="685800" y="1600200"/>
            <a:ext cx="3611880" cy="365760"/>
          </a:xfrm>
          <a:prstGeom prst="rect">
            <a:avLst/>
          </a:prstGeom>
          <a:noFill/>
          <a:ln/>
        </p:spPr>
        <p:txBody>
          <a:bodyPr wrap="square" rtlCol="0" anchor="ctr"/>
          <a:lstStyle/>
          <a:p>
            <a:pPr indent="0" marL="0">
              <a:buNone/>
            </a:pPr>
            <a:r>
              <a:rPr lang="en-US" sz="1300" b="1" dirty="0">
                <a:solidFill>
                  <a:srgbClr val="F1583B"/>
                </a:solidFill>
                <a:latin typeface="Arial" pitchFamily="34" charset="0"/>
                <a:ea typeface="Arial" pitchFamily="34" charset="-122"/>
                <a:cs typeface="Arial" pitchFamily="34" charset="-120"/>
              </a:rPr>
              <a:t>Product &amp; Tech Lead (CEO)</a:t>
            </a:r>
            <a:endParaRPr lang="en-US" sz="1300" dirty="0"/>
          </a:p>
        </p:txBody>
      </p:sp>
      <p:sp>
        <p:nvSpPr>
          <p:cNvPr id="7" name="Text 5"/>
          <p:cNvSpPr/>
          <p:nvPr/>
        </p:nvSpPr>
        <p:spPr>
          <a:xfrm>
            <a:off x="685800" y="2011680"/>
            <a:ext cx="3611880" cy="777240"/>
          </a:xfrm>
          <a:prstGeom prst="rect">
            <a:avLst/>
          </a:prstGeom>
          <a:noFill/>
          <a:ln/>
        </p:spPr>
        <p:txBody>
          <a:bodyPr wrap="square" rtlCol="0" anchor="ctr"/>
          <a:lstStyle/>
          <a:p>
            <a:pPr indent="0" marL="0">
              <a:buNone/>
            </a:pPr>
            <a:r>
              <a:rPr lang="en-US" sz="1100" dirty="0">
                <a:solidFill>
                  <a:srgbClr val="4F4E4F"/>
                </a:solidFill>
                <a:latin typeface="Arial" pitchFamily="34" charset="0"/>
                <a:ea typeface="Arial" pitchFamily="34" charset="-122"/>
                <a:cs typeface="Arial" pitchFamily="34" charset="-120"/>
              </a:rPr>
              <a:t>Builds the MVP, owns product vision, and handles critical tech decisions.</a:t>
            </a:r>
            <a:endParaRPr lang="en-US" sz="1100" dirty="0"/>
          </a:p>
        </p:txBody>
      </p:sp>
      <p:sp>
        <p:nvSpPr>
          <p:cNvPr id="8" name="Shape 6"/>
          <p:cNvSpPr/>
          <p:nvPr/>
        </p:nvSpPr>
        <p:spPr>
          <a:xfrm>
            <a:off x="4800600" y="1417320"/>
            <a:ext cx="3977640" cy="1508760"/>
          </a:xfrm>
          <a:prstGeom prst="roundRect">
            <a:avLst>
              <a:gd name="adj" fmla="val 4848"/>
            </a:avLst>
          </a:prstGeom>
          <a:solidFill>
            <a:srgbClr val="FFFFFF"/>
          </a:solidFill>
          <a:ln w="12700">
            <a:solidFill>
              <a:srgbClr val="E0E0E0"/>
            </a:solidFill>
            <a:prstDash val="solid"/>
          </a:ln>
        </p:spPr>
      </p:sp>
      <p:sp>
        <p:nvSpPr>
          <p:cNvPr id="9" name="Text 7"/>
          <p:cNvSpPr/>
          <p:nvPr/>
        </p:nvSpPr>
        <p:spPr>
          <a:xfrm>
            <a:off x="4983480" y="1600200"/>
            <a:ext cx="3611880" cy="365760"/>
          </a:xfrm>
          <a:prstGeom prst="rect">
            <a:avLst/>
          </a:prstGeom>
          <a:noFill/>
          <a:ln/>
        </p:spPr>
        <p:txBody>
          <a:bodyPr wrap="square" rtlCol="0" anchor="ctr"/>
          <a:lstStyle/>
          <a:p>
            <a:pPr indent="0" marL="0">
              <a:buNone/>
            </a:pPr>
            <a:r>
              <a:rPr lang="en-US" sz="1300" b="1" dirty="0">
                <a:solidFill>
                  <a:srgbClr val="F1583B"/>
                </a:solidFill>
                <a:latin typeface="Arial" pitchFamily="34" charset="0"/>
                <a:ea typeface="Arial" pitchFamily="34" charset="-122"/>
                <a:cs typeface="Arial" pitchFamily="34" charset="-120"/>
              </a:rPr>
              <a:t>Sales &amp; BD</a:t>
            </a:r>
            <a:endParaRPr lang="en-US" sz="1300" dirty="0"/>
          </a:p>
        </p:txBody>
      </p:sp>
      <p:sp>
        <p:nvSpPr>
          <p:cNvPr id="10" name="Text 8"/>
          <p:cNvSpPr/>
          <p:nvPr/>
        </p:nvSpPr>
        <p:spPr>
          <a:xfrm>
            <a:off x="4983480" y="2011680"/>
            <a:ext cx="3611880" cy="777240"/>
          </a:xfrm>
          <a:prstGeom prst="rect">
            <a:avLst/>
          </a:prstGeom>
          <a:noFill/>
          <a:ln/>
        </p:spPr>
        <p:txBody>
          <a:bodyPr wrap="square" rtlCol="0" anchor="ctr"/>
          <a:lstStyle/>
          <a:p>
            <a:pPr indent="0" marL="0">
              <a:buNone/>
            </a:pPr>
            <a:r>
              <a:rPr lang="en-US" sz="1100" dirty="0">
                <a:solidFill>
                  <a:srgbClr val="4F4E4F"/>
                </a:solidFill>
                <a:latin typeface="Arial" pitchFamily="34" charset="0"/>
                <a:ea typeface="Arial" pitchFamily="34" charset="-122"/>
                <a:cs typeface="Arial" pitchFamily="34" charset="-120"/>
              </a:rPr>
              <a:t>Leverages local engineering connections to open doors and close pilot clients.</a:t>
            </a:r>
            <a:endParaRPr lang="en-US" sz="1100" dirty="0"/>
          </a:p>
        </p:txBody>
      </p:sp>
      <p:sp>
        <p:nvSpPr>
          <p:cNvPr id="11" name="Shape 9"/>
          <p:cNvSpPr/>
          <p:nvPr/>
        </p:nvSpPr>
        <p:spPr>
          <a:xfrm>
            <a:off x="502920" y="3108960"/>
            <a:ext cx="3977640" cy="1508760"/>
          </a:xfrm>
          <a:prstGeom prst="roundRect">
            <a:avLst>
              <a:gd name="adj" fmla="val 4848"/>
            </a:avLst>
          </a:prstGeom>
          <a:solidFill>
            <a:srgbClr val="FFFFFF"/>
          </a:solidFill>
          <a:ln w="12700">
            <a:solidFill>
              <a:srgbClr val="E0E0E0"/>
            </a:solidFill>
            <a:prstDash val="solid"/>
          </a:ln>
        </p:spPr>
      </p:sp>
      <p:sp>
        <p:nvSpPr>
          <p:cNvPr id="12" name="Text 10"/>
          <p:cNvSpPr/>
          <p:nvPr/>
        </p:nvSpPr>
        <p:spPr>
          <a:xfrm>
            <a:off x="685800" y="3291840"/>
            <a:ext cx="3611880" cy="365760"/>
          </a:xfrm>
          <a:prstGeom prst="rect">
            <a:avLst/>
          </a:prstGeom>
          <a:noFill/>
          <a:ln/>
        </p:spPr>
        <p:txBody>
          <a:bodyPr wrap="square" rtlCol="0" anchor="ctr"/>
          <a:lstStyle/>
          <a:p>
            <a:pPr indent="0" marL="0">
              <a:buNone/>
            </a:pPr>
            <a:r>
              <a:rPr lang="en-US" sz="1300" b="1" dirty="0">
                <a:solidFill>
                  <a:srgbClr val="F1583B"/>
                </a:solidFill>
                <a:latin typeface="Arial" pitchFamily="34" charset="0"/>
                <a:ea typeface="Arial" pitchFamily="34" charset="-122"/>
                <a:cs typeface="Arial" pitchFamily="34" charset="-120"/>
              </a:rPr>
              <a:t>UI/UX Designer</a:t>
            </a:r>
            <a:endParaRPr lang="en-US" sz="1300" dirty="0"/>
          </a:p>
        </p:txBody>
      </p:sp>
      <p:sp>
        <p:nvSpPr>
          <p:cNvPr id="13" name="Text 11"/>
          <p:cNvSpPr/>
          <p:nvPr/>
        </p:nvSpPr>
        <p:spPr>
          <a:xfrm>
            <a:off x="685800" y="3703320"/>
            <a:ext cx="3611880" cy="777240"/>
          </a:xfrm>
          <a:prstGeom prst="rect">
            <a:avLst/>
          </a:prstGeom>
          <a:noFill/>
          <a:ln/>
        </p:spPr>
        <p:txBody>
          <a:bodyPr wrap="square" rtlCol="0" anchor="ctr"/>
          <a:lstStyle/>
          <a:p>
            <a:pPr indent="0" marL="0">
              <a:buNone/>
            </a:pPr>
            <a:r>
              <a:rPr lang="en-US" sz="1100" dirty="0">
                <a:solidFill>
                  <a:srgbClr val="4F4E4F"/>
                </a:solidFill>
                <a:latin typeface="Arial" pitchFamily="34" charset="0"/>
                <a:ea typeface="Arial" pitchFamily="34" charset="-122"/>
                <a:cs typeface="Arial" pitchFamily="34" charset="-120"/>
              </a:rPr>
              <a:t>Clean, intuitive interfaces that work on lower-end Android phones in the field.</a:t>
            </a:r>
            <a:endParaRPr lang="en-US" sz="1100" dirty="0"/>
          </a:p>
        </p:txBody>
      </p:sp>
      <p:sp>
        <p:nvSpPr>
          <p:cNvPr id="14" name="Shape 12"/>
          <p:cNvSpPr/>
          <p:nvPr/>
        </p:nvSpPr>
        <p:spPr>
          <a:xfrm>
            <a:off x="4800600" y="3108960"/>
            <a:ext cx="3977640" cy="1508760"/>
          </a:xfrm>
          <a:prstGeom prst="roundRect">
            <a:avLst>
              <a:gd name="adj" fmla="val 4848"/>
            </a:avLst>
          </a:prstGeom>
          <a:solidFill>
            <a:srgbClr val="FFFFFF"/>
          </a:solidFill>
          <a:ln w="12700">
            <a:solidFill>
              <a:srgbClr val="E0E0E0"/>
            </a:solidFill>
            <a:prstDash val="solid"/>
          </a:ln>
        </p:spPr>
      </p:sp>
      <p:sp>
        <p:nvSpPr>
          <p:cNvPr id="15" name="Text 13"/>
          <p:cNvSpPr/>
          <p:nvPr/>
        </p:nvSpPr>
        <p:spPr>
          <a:xfrm>
            <a:off x="4983480" y="3291840"/>
            <a:ext cx="3611880" cy="365760"/>
          </a:xfrm>
          <a:prstGeom prst="rect">
            <a:avLst/>
          </a:prstGeom>
          <a:noFill/>
          <a:ln/>
        </p:spPr>
        <p:txBody>
          <a:bodyPr wrap="square" rtlCol="0" anchor="ctr"/>
          <a:lstStyle/>
          <a:p>
            <a:pPr indent="0" marL="0">
              <a:buNone/>
            </a:pPr>
            <a:r>
              <a:rPr lang="en-US" sz="1300" b="1" dirty="0">
                <a:solidFill>
                  <a:srgbClr val="F1583B"/>
                </a:solidFill>
                <a:latin typeface="Arial" pitchFamily="34" charset="0"/>
                <a:ea typeface="Arial" pitchFamily="34" charset="-122"/>
                <a:cs typeface="Arial" pitchFamily="34" charset="-120"/>
              </a:rPr>
              <a:t>Operations &amp; Growth</a:t>
            </a:r>
            <a:endParaRPr lang="en-US" sz="1300" dirty="0"/>
          </a:p>
        </p:txBody>
      </p:sp>
      <p:sp>
        <p:nvSpPr>
          <p:cNvPr id="16" name="Text 14"/>
          <p:cNvSpPr/>
          <p:nvPr/>
        </p:nvSpPr>
        <p:spPr>
          <a:xfrm>
            <a:off x="4983480" y="3703320"/>
            <a:ext cx="3611880" cy="777240"/>
          </a:xfrm>
          <a:prstGeom prst="rect">
            <a:avLst/>
          </a:prstGeom>
          <a:noFill/>
          <a:ln/>
        </p:spPr>
        <p:txBody>
          <a:bodyPr wrap="square" rtlCol="0" anchor="ctr"/>
          <a:lstStyle/>
          <a:p>
            <a:pPr indent="0" marL="0">
              <a:buNone/>
            </a:pPr>
            <a:r>
              <a:rPr lang="en-US" sz="1100" dirty="0">
                <a:solidFill>
                  <a:srgbClr val="4F4E4F"/>
                </a:solidFill>
                <a:latin typeface="Arial" pitchFamily="34" charset="0"/>
                <a:ea typeface="Arial" pitchFamily="34" charset="-122"/>
                <a:cs typeface="Arial" pitchFamily="34" charset="-120"/>
              </a:rPr>
              <a:t>Manages onboarding, client communication, and ensures smooth delivery.</a:t>
            </a:r>
            <a:endParaRPr lang="en-US" sz="1100" dirty="0"/>
          </a:p>
        </p:txBody>
      </p:sp>
      <p:pic>
        <p:nvPicPr>
          <p:cNvPr id="17" name="Image 0" descr="C:\Users\Duapa Werkspace 010\Desktop\MantroOps\docs\presentation-assets\field-worker.jpg">    </p:cNvPr>
          <p:cNvPicPr>
            <a:picLocks noChangeAspect="1"/>
          </p:cNvPicPr>
          <p:nvPr/>
        </p:nvPicPr>
        <p:blipFill>
          <a:blip r:embed="rId1"/>
          <a:srcRect l="0" r="0" t="0" b="0"/>
          <a:stretch/>
        </p:blipFill>
        <p:spPr>
          <a:xfrm>
            <a:off x="5943600" y="109728"/>
            <a:ext cx="2743200" cy="1097280"/>
          </a:xfrm>
          <a:prstGeom prst="rect">
            <a:avLst/>
          </a:prstGeom>
        </p:spPr>
      </p:pic>
      <p:sp>
        <p:nvSpPr>
          <p:cNvPr id="18" name="Text 15"/>
          <p:cNvSpPr/>
          <p:nvPr/>
        </p:nvSpPr>
        <p:spPr>
          <a:xfrm>
            <a:off x="457200" y="4709160"/>
            <a:ext cx="5486400" cy="274320"/>
          </a:xfrm>
          <a:prstGeom prst="rect">
            <a:avLst/>
          </a:prstGeom>
          <a:noFill/>
          <a:ln/>
        </p:spPr>
        <p:txBody>
          <a:bodyPr wrap="square" rtlCol="0" anchor="ctr"/>
          <a:lstStyle/>
          <a:p>
            <a:pPr indent="0" marL="0">
              <a:buNone/>
            </a:pPr>
            <a:r>
              <a:rPr lang="en-US" sz="800" dirty="0">
                <a:solidFill>
                  <a:srgbClr val="8A898A"/>
                </a:solidFill>
                <a:latin typeface="Arial" pitchFamily="34" charset="0"/>
                <a:ea typeface="Arial" pitchFamily="34" charset="-122"/>
                <a:cs typeface="Arial" pitchFamily="34" charset="-120"/>
              </a:rPr>
              <a:t>mantroOps  ·  Project Kickoff  ·  June 2025</a:t>
            </a:r>
            <a:endParaRPr lang="en-US" sz="800" dirty="0"/>
          </a:p>
        </p:txBody>
      </p:sp>
      <p:sp>
        <p:nvSpPr>
          <p:cNvPr id="19" name="Text 16"/>
          <p:cNvSpPr/>
          <p:nvPr/>
        </p:nvSpPr>
        <p:spPr>
          <a:xfrm>
            <a:off x="7772400" y="4709160"/>
            <a:ext cx="914400" cy="274320"/>
          </a:xfrm>
          <a:prstGeom prst="rect">
            <a:avLst/>
          </a:prstGeom>
          <a:noFill/>
          <a:ln/>
        </p:spPr>
        <p:txBody>
          <a:bodyPr wrap="square" rtlCol="0" anchor="ctr"/>
          <a:lstStyle/>
          <a:p>
            <a:pPr algn="r" indent="0" marL="0">
              <a:buNone/>
            </a:pPr>
            <a:r>
              <a:rPr lang="en-US" sz="800" dirty="0">
                <a:solidFill>
                  <a:srgbClr val="8A898A"/>
                </a:solidFill>
                <a:latin typeface="Arial" pitchFamily="34" charset="0"/>
                <a:ea typeface="Arial" pitchFamily="34" charset="-122"/>
                <a:cs typeface="Arial" pitchFamily="34" charset="-120"/>
              </a:rPr>
              <a:t>06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0A691"/>
          </a:solidFill>
          <a:ln w="12700">
            <a:solidFill>
              <a:srgbClr val="00A691"/>
            </a:solidFill>
            <a:prstDash val="solid"/>
          </a:ln>
        </p:spPr>
      </p:sp>
      <p:sp>
        <p:nvSpPr>
          <p:cNvPr id="3" name="Text 1"/>
          <p:cNvSpPr/>
          <p:nvPr/>
        </p:nvSpPr>
        <p:spPr>
          <a:xfrm>
            <a:off x="502920" y="411480"/>
            <a:ext cx="5029200" cy="640080"/>
          </a:xfrm>
          <a:prstGeom prst="rect">
            <a:avLst/>
          </a:prstGeom>
          <a:noFill/>
          <a:ln/>
        </p:spPr>
        <p:txBody>
          <a:bodyPr wrap="square" rtlCol="0" anchor="ctr"/>
          <a:lstStyle/>
          <a:p>
            <a:pPr indent="0" marL="0">
              <a:buNone/>
            </a:pPr>
            <a:r>
              <a:rPr lang="en-US" sz="2800" b="1" dirty="0">
                <a:solidFill>
                  <a:srgbClr val="4F4E4F"/>
                </a:solidFill>
                <a:latin typeface="Arial" pitchFamily="34" charset="0"/>
                <a:ea typeface="Arial" pitchFamily="34" charset="-122"/>
                <a:cs typeface="Arial" pitchFamily="34" charset="-120"/>
              </a:rPr>
              <a:t>Roadmap to Our First Pilot</a:t>
            </a:r>
            <a:endParaRPr lang="en-US" sz="2800" dirty="0"/>
          </a:p>
        </p:txBody>
      </p:sp>
      <p:sp>
        <p:nvSpPr>
          <p:cNvPr id="4" name="Text 2"/>
          <p:cNvSpPr/>
          <p:nvPr/>
        </p:nvSpPr>
        <p:spPr>
          <a:xfrm>
            <a:off x="502920" y="1097280"/>
            <a:ext cx="5303520" cy="502920"/>
          </a:xfrm>
          <a:prstGeom prst="rect">
            <a:avLst/>
          </a:prstGeom>
          <a:noFill/>
          <a:ln/>
        </p:spPr>
        <p:txBody>
          <a:bodyPr wrap="square" rtlCol="0" anchor="ctr"/>
          <a:lstStyle/>
          <a:p>
            <a:pPr indent="0" marL="0">
              <a:buNone/>
            </a:pPr>
            <a:r>
              <a:rPr lang="en-US" sz="1300" i="1" dirty="0">
                <a:solidFill>
                  <a:srgbClr val="8A898A"/>
                </a:solidFill>
                <a:latin typeface="Arial" pitchFamily="34" charset="0"/>
                <a:ea typeface="Arial" pitchFamily="34" charset="-122"/>
                <a:cs typeface="Arial" pitchFamily="34" charset="-120"/>
              </a:rPr>
              <a:t>The First 90 Days</a:t>
            </a:r>
            <a:endParaRPr lang="en-US" sz="1300" dirty="0"/>
          </a:p>
        </p:txBody>
      </p:sp>
      <p:sp>
        <p:nvSpPr>
          <p:cNvPr id="5" name="Shape 3"/>
          <p:cNvSpPr/>
          <p:nvPr/>
        </p:nvSpPr>
        <p:spPr>
          <a:xfrm>
            <a:off x="594360" y="1463040"/>
            <a:ext cx="411480" cy="411480"/>
          </a:xfrm>
          <a:prstGeom prst="ellipse">
            <a:avLst/>
          </a:prstGeom>
          <a:solidFill>
            <a:srgbClr val="F1583B"/>
          </a:solidFill>
          <a:ln w="12700">
            <a:solidFill>
              <a:srgbClr val="F1583B"/>
            </a:solidFill>
            <a:prstDash val="solid"/>
          </a:ln>
        </p:spPr>
      </p:sp>
      <p:sp>
        <p:nvSpPr>
          <p:cNvPr id="6" name="Shape 4"/>
          <p:cNvSpPr/>
          <p:nvPr/>
        </p:nvSpPr>
        <p:spPr>
          <a:xfrm>
            <a:off x="795528" y="1874520"/>
            <a:ext cx="0" cy="640080"/>
          </a:xfrm>
          <a:prstGeom prst="line">
            <a:avLst/>
          </a:prstGeom>
          <a:noFill/>
          <a:ln w="25400">
            <a:solidFill>
              <a:srgbClr val="D0D0D0"/>
            </a:solidFill>
            <a:prstDash val="solid"/>
          </a:ln>
        </p:spPr>
      </p:sp>
      <p:sp>
        <p:nvSpPr>
          <p:cNvPr id="7" name="Text 5"/>
          <p:cNvSpPr/>
          <p:nvPr/>
        </p:nvSpPr>
        <p:spPr>
          <a:xfrm>
            <a:off x="1234440" y="1371600"/>
            <a:ext cx="1371600" cy="274320"/>
          </a:xfrm>
          <a:prstGeom prst="rect">
            <a:avLst/>
          </a:prstGeom>
          <a:noFill/>
          <a:ln/>
        </p:spPr>
        <p:txBody>
          <a:bodyPr wrap="square" rtlCol="0" anchor="ctr"/>
          <a:lstStyle/>
          <a:p>
            <a:pPr indent="0" marL="0">
              <a:buNone/>
            </a:pPr>
            <a:r>
              <a:rPr lang="en-US" sz="1000" b="1" dirty="0">
                <a:solidFill>
                  <a:srgbClr val="00A691"/>
                </a:solidFill>
                <a:latin typeface="Arial" pitchFamily="34" charset="0"/>
                <a:ea typeface="Arial" pitchFamily="34" charset="-122"/>
                <a:cs typeface="Arial" pitchFamily="34" charset="-120"/>
              </a:rPr>
              <a:t>Days 1–30</a:t>
            </a:r>
            <a:endParaRPr lang="en-US" sz="1000" dirty="0"/>
          </a:p>
        </p:txBody>
      </p:sp>
      <p:sp>
        <p:nvSpPr>
          <p:cNvPr id="8" name="Text 6"/>
          <p:cNvSpPr/>
          <p:nvPr/>
        </p:nvSpPr>
        <p:spPr>
          <a:xfrm>
            <a:off x="1234440" y="1627632"/>
            <a:ext cx="6858000" cy="320040"/>
          </a:xfrm>
          <a:prstGeom prst="rect">
            <a:avLst/>
          </a:prstGeom>
          <a:noFill/>
          <a:ln/>
        </p:spPr>
        <p:txBody>
          <a:bodyPr wrap="square" rtlCol="0" anchor="ctr"/>
          <a:lstStyle/>
          <a:p>
            <a:pPr indent="0" marL="0">
              <a:buNone/>
            </a:pPr>
            <a:r>
              <a:rPr lang="en-US" sz="1500" b="1" dirty="0">
                <a:solidFill>
                  <a:srgbClr val="4F4E4F"/>
                </a:solidFill>
                <a:latin typeface="Arial" pitchFamily="34" charset="0"/>
                <a:ea typeface="Arial" pitchFamily="34" charset="-122"/>
                <a:cs typeface="Arial" pitchFamily="34" charset="-120"/>
              </a:rPr>
              <a:t>Foundation</a:t>
            </a:r>
            <a:endParaRPr lang="en-US" sz="1500" dirty="0"/>
          </a:p>
        </p:txBody>
      </p:sp>
      <p:sp>
        <p:nvSpPr>
          <p:cNvPr id="9" name="Text 7"/>
          <p:cNvSpPr/>
          <p:nvPr/>
        </p:nvSpPr>
        <p:spPr>
          <a:xfrm>
            <a:off x="1234440" y="1938528"/>
            <a:ext cx="6858000" cy="502920"/>
          </a:xfrm>
          <a:prstGeom prst="rect">
            <a:avLst/>
          </a:prstGeom>
          <a:noFill/>
          <a:ln/>
        </p:spPr>
        <p:txBody>
          <a:bodyPr wrap="square" rtlCol="0" anchor="ctr"/>
          <a:lstStyle/>
          <a:p>
            <a:pPr indent="0" marL="0">
              <a:buNone/>
            </a:pPr>
            <a:r>
              <a:rPr lang="en-US" sz="1100" dirty="0">
                <a:solidFill>
                  <a:srgbClr val="8A898A"/>
                </a:solidFill>
                <a:latin typeface="Arial" pitchFamily="34" charset="0"/>
                <a:ea typeface="Arial" pitchFamily="34" charset="-122"/>
                <a:cs typeface="Arial" pitchFamily="34" charset="-120"/>
              </a:rPr>
              <a:t>Build core MVP (Asset Register, Work Orders, PM Reminders). Sales initiates conversations with 5 engineering firms.</a:t>
            </a:r>
            <a:endParaRPr lang="en-US" sz="1100" dirty="0"/>
          </a:p>
        </p:txBody>
      </p:sp>
      <p:sp>
        <p:nvSpPr>
          <p:cNvPr id="10" name="Shape 8"/>
          <p:cNvSpPr/>
          <p:nvPr/>
        </p:nvSpPr>
        <p:spPr>
          <a:xfrm>
            <a:off x="594360" y="2606040"/>
            <a:ext cx="411480" cy="411480"/>
          </a:xfrm>
          <a:prstGeom prst="ellipse">
            <a:avLst/>
          </a:prstGeom>
          <a:solidFill>
            <a:srgbClr val="00A691"/>
          </a:solidFill>
          <a:ln w="12700">
            <a:solidFill>
              <a:srgbClr val="00A691"/>
            </a:solidFill>
            <a:prstDash val="solid"/>
          </a:ln>
        </p:spPr>
      </p:sp>
      <p:sp>
        <p:nvSpPr>
          <p:cNvPr id="11" name="Shape 9"/>
          <p:cNvSpPr/>
          <p:nvPr/>
        </p:nvSpPr>
        <p:spPr>
          <a:xfrm>
            <a:off x="795528" y="3017520"/>
            <a:ext cx="0" cy="640080"/>
          </a:xfrm>
          <a:prstGeom prst="line">
            <a:avLst/>
          </a:prstGeom>
          <a:noFill/>
          <a:ln w="25400">
            <a:solidFill>
              <a:srgbClr val="D0D0D0"/>
            </a:solidFill>
            <a:prstDash val="solid"/>
          </a:ln>
        </p:spPr>
      </p:sp>
      <p:sp>
        <p:nvSpPr>
          <p:cNvPr id="12" name="Text 10"/>
          <p:cNvSpPr/>
          <p:nvPr/>
        </p:nvSpPr>
        <p:spPr>
          <a:xfrm>
            <a:off x="1234440" y="2514600"/>
            <a:ext cx="1371600" cy="274320"/>
          </a:xfrm>
          <a:prstGeom prst="rect">
            <a:avLst/>
          </a:prstGeom>
          <a:noFill/>
          <a:ln/>
        </p:spPr>
        <p:txBody>
          <a:bodyPr wrap="square" rtlCol="0" anchor="ctr"/>
          <a:lstStyle/>
          <a:p>
            <a:pPr indent="0" marL="0">
              <a:buNone/>
            </a:pPr>
            <a:r>
              <a:rPr lang="en-US" sz="1000" b="1" dirty="0">
                <a:solidFill>
                  <a:srgbClr val="00A691"/>
                </a:solidFill>
                <a:latin typeface="Arial" pitchFamily="34" charset="0"/>
                <a:ea typeface="Arial" pitchFamily="34" charset="-122"/>
                <a:cs typeface="Arial" pitchFamily="34" charset="-120"/>
              </a:rPr>
              <a:t>Days 31–60</a:t>
            </a:r>
            <a:endParaRPr lang="en-US" sz="1000" dirty="0"/>
          </a:p>
        </p:txBody>
      </p:sp>
      <p:sp>
        <p:nvSpPr>
          <p:cNvPr id="13" name="Text 11"/>
          <p:cNvSpPr/>
          <p:nvPr/>
        </p:nvSpPr>
        <p:spPr>
          <a:xfrm>
            <a:off x="1234440" y="2770632"/>
            <a:ext cx="6858000" cy="320040"/>
          </a:xfrm>
          <a:prstGeom prst="rect">
            <a:avLst/>
          </a:prstGeom>
          <a:noFill/>
          <a:ln/>
        </p:spPr>
        <p:txBody>
          <a:bodyPr wrap="square" rtlCol="0" anchor="ctr"/>
          <a:lstStyle/>
          <a:p>
            <a:pPr indent="0" marL="0">
              <a:buNone/>
            </a:pPr>
            <a:r>
              <a:rPr lang="en-US" sz="1500" b="1" dirty="0">
                <a:solidFill>
                  <a:srgbClr val="4F4E4F"/>
                </a:solidFill>
                <a:latin typeface="Arial" pitchFamily="34" charset="0"/>
                <a:ea typeface="Arial" pitchFamily="34" charset="-122"/>
                <a:cs typeface="Arial" pitchFamily="34" charset="-120"/>
              </a:rPr>
              <a:t>Demo Ready</a:t>
            </a:r>
            <a:endParaRPr lang="en-US" sz="1500" dirty="0"/>
          </a:p>
        </p:txBody>
      </p:sp>
      <p:sp>
        <p:nvSpPr>
          <p:cNvPr id="14" name="Text 12"/>
          <p:cNvSpPr/>
          <p:nvPr/>
        </p:nvSpPr>
        <p:spPr>
          <a:xfrm>
            <a:off x="1234440" y="3081528"/>
            <a:ext cx="6858000" cy="502920"/>
          </a:xfrm>
          <a:prstGeom prst="rect">
            <a:avLst/>
          </a:prstGeom>
          <a:noFill/>
          <a:ln/>
        </p:spPr>
        <p:txBody>
          <a:bodyPr wrap="square" rtlCol="0" anchor="ctr"/>
          <a:lstStyle/>
          <a:p>
            <a:pPr indent="0" marL="0">
              <a:buNone/>
            </a:pPr>
            <a:r>
              <a:rPr lang="en-US" sz="1100" dirty="0">
                <a:solidFill>
                  <a:srgbClr val="8A898A"/>
                </a:solidFill>
                <a:latin typeface="Arial" pitchFamily="34" charset="0"/>
                <a:ea typeface="Arial" pitchFamily="34" charset="-122"/>
                <a:cs typeface="Arial" pitchFamily="34" charset="-120"/>
              </a:rPr>
              <a:t>Polish UI, add full offline support and QR scanning. Run live demos with warm contacts.</a:t>
            </a:r>
            <a:endParaRPr lang="en-US" sz="1100" dirty="0"/>
          </a:p>
        </p:txBody>
      </p:sp>
      <p:sp>
        <p:nvSpPr>
          <p:cNvPr id="15" name="Shape 13"/>
          <p:cNvSpPr/>
          <p:nvPr/>
        </p:nvSpPr>
        <p:spPr>
          <a:xfrm>
            <a:off x="594360" y="3749040"/>
            <a:ext cx="411480" cy="411480"/>
          </a:xfrm>
          <a:prstGeom prst="ellipse">
            <a:avLst/>
          </a:prstGeom>
          <a:solidFill>
            <a:srgbClr val="4F4E4F"/>
          </a:solidFill>
          <a:ln w="12700">
            <a:solidFill>
              <a:srgbClr val="4F4E4F"/>
            </a:solidFill>
            <a:prstDash val="solid"/>
          </a:ln>
        </p:spPr>
      </p:sp>
      <p:sp>
        <p:nvSpPr>
          <p:cNvPr id="16" name="Text 14"/>
          <p:cNvSpPr/>
          <p:nvPr/>
        </p:nvSpPr>
        <p:spPr>
          <a:xfrm>
            <a:off x="1234440" y="3657600"/>
            <a:ext cx="1371600" cy="274320"/>
          </a:xfrm>
          <a:prstGeom prst="rect">
            <a:avLst/>
          </a:prstGeom>
          <a:noFill/>
          <a:ln/>
        </p:spPr>
        <p:txBody>
          <a:bodyPr wrap="square" rtlCol="0" anchor="ctr"/>
          <a:lstStyle/>
          <a:p>
            <a:pPr indent="0" marL="0">
              <a:buNone/>
            </a:pPr>
            <a:r>
              <a:rPr lang="en-US" sz="1000" b="1" dirty="0">
                <a:solidFill>
                  <a:srgbClr val="00A691"/>
                </a:solidFill>
                <a:latin typeface="Arial" pitchFamily="34" charset="0"/>
                <a:ea typeface="Arial" pitchFamily="34" charset="-122"/>
                <a:cs typeface="Arial" pitchFamily="34" charset="-120"/>
              </a:rPr>
              <a:t>Days 61–90</a:t>
            </a:r>
            <a:endParaRPr lang="en-US" sz="1000" dirty="0"/>
          </a:p>
        </p:txBody>
      </p:sp>
      <p:sp>
        <p:nvSpPr>
          <p:cNvPr id="17" name="Text 15"/>
          <p:cNvSpPr/>
          <p:nvPr/>
        </p:nvSpPr>
        <p:spPr>
          <a:xfrm>
            <a:off x="1234440" y="3913632"/>
            <a:ext cx="6858000" cy="320040"/>
          </a:xfrm>
          <a:prstGeom prst="rect">
            <a:avLst/>
          </a:prstGeom>
          <a:noFill/>
          <a:ln/>
        </p:spPr>
        <p:txBody>
          <a:bodyPr wrap="square" rtlCol="0" anchor="ctr"/>
          <a:lstStyle/>
          <a:p>
            <a:pPr indent="0" marL="0">
              <a:buNone/>
            </a:pPr>
            <a:r>
              <a:rPr lang="en-US" sz="1500" b="1" dirty="0">
                <a:solidFill>
                  <a:srgbClr val="4F4E4F"/>
                </a:solidFill>
                <a:latin typeface="Arial" pitchFamily="34" charset="0"/>
                <a:ea typeface="Arial" pitchFamily="34" charset="-122"/>
                <a:cs typeface="Arial" pitchFamily="34" charset="-120"/>
              </a:rPr>
              <a:t>First Pilot</a:t>
            </a:r>
            <a:endParaRPr lang="en-US" sz="1500" dirty="0"/>
          </a:p>
        </p:txBody>
      </p:sp>
      <p:sp>
        <p:nvSpPr>
          <p:cNvPr id="18" name="Text 16"/>
          <p:cNvSpPr/>
          <p:nvPr/>
        </p:nvSpPr>
        <p:spPr>
          <a:xfrm>
            <a:off x="1234440" y="4224528"/>
            <a:ext cx="6858000" cy="502920"/>
          </a:xfrm>
          <a:prstGeom prst="rect">
            <a:avLst/>
          </a:prstGeom>
          <a:noFill/>
          <a:ln/>
        </p:spPr>
        <p:txBody>
          <a:bodyPr wrap="square" rtlCol="0" anchor="ctr"/>
          <a:lstStyle/>
          <a:p>
            <a:pPr indent="0" marL="0">
              <a:buNone/>
            </a:pPr>
            <a:r>
              <a:rPr lang="en-US" sz="1100" dirty="0">
                <a:solidFill>
                  <a:srgbClr val="8A898A"/>
                </a:solidFill>
                <a:latin typeface="Arial" pitchFamily="34" charset="0"/>
                <a:ea typeface="Arial" pitchFamily="34" charset="-122"/>
                <a:cs typeface="Arial" pitchFamily="34" charset="-120"/>
              </a:rPr>
              <a:t>Onboard and deeply support our first paying or committed pilot client to document real results.</a:t>
            </a:r>
            <a:endParaRPr lang="en-US" sz="1100" dirty="0"/>
          </a:p>
        </p:txBody>
      </p:sp>
      <p:pic>
        <p:nvPicPr>
          <p:cNvPr id="19" name="Image 0" descr="C:\Users\Duapa Werkspace 010\Desktop\MantroOps\docs\presentation-assets\industrial-plant.jpg">    </p:cNvPr>
          <p:cNvPicPr>
            <a:picLocks noChangeAspect="1"/>
          </p:cNvPicPr>
          <p:nvPr/>
        </p:nvPicPr>
        <p:blipFill>
          <a:blip r:embed="rId1"/>
          <a:srcRect l="0" r="0" t="0" b="0"/>
          <a:stretch/>
        </p:blipFill>
        <p:spPr>
          <a:xfrm>
            <a:off x="6400800" y="1371600"/>
            <a:ext cx="2240280" cy="2926080"/>
          </a:xfrm>
          <a:prstGeom prst="ellipse">
            <a:avLst/>
          </a:prstGeom>
        </p:spPr>
      </p:pic>
      <p:sp>
        <p:nvSpPr>
          <p:cNvPr id="20" name="Text 17"/>
          <p:cNvSpPr/>
          <p:nvPr/>
        </p:nvSpPr>
        <p:spPr>
          <a:xfrm>
            <a:off x="457200" y="4709160"/>
            <a:ext cx="5486400" cy="274320"/>
          </a:xfrm>
          <a:prstGeom prst="rect">
            <a:avLst/>
          </a:prstGeom>
          <a:noFill/>
          <a:ln/>
        </p:spPr>
        <p:txBody>
          <a:bodyPr wrap="square" rtlCol="0" anchor="ctr"/>
          <a:lstStyle/>
          <a:p>
            <a:pPr indent="0" marL="0">
              <a:buNone/>
            </a:pPr>
            <a:r>
              <a:rPr lang="en-US" sz="800" dirty="0">
                <a:solidFill>
                  <a:srgbClr val="8A898A"/>
                </a:solidFill>
                <a:latin typeface="Arial" pitchFamily="34" charset="0"/>
                <a:ea typeface="Arial" pitchFamily="34" charset="-122"/>
                <a:cs typeface="Arial" pitchFamily="34" charset="-120"/>
              </a:rPr>
              <a:t>mantroOps  ·  Project Kickoff  ·  June 2025</a:t>
            </a:r>
            <a:endParaRPr lang="en-US" sz="800" dirty="0"/>
          </a:p>
        </p:txBody>
      </p:sp>
      <p:sp>
        <p:nvSpPr>
          <p:cNvPr id="21" name="Text 18"/>
          <p:cNvSpPr/>
          <p:nvPr/>
        </p:nvSpPr>
        <p:spPr>
          <a:xfrm>
            <a:off x="7772400" y="4709160"/>
            <a:ext cx="914400" cy="274320"/>
          </a:xfrm>
          <a:prstGeom prst="rect">
            <a:avLst/>
          </a:prstGeom>
          <a:noFill/>
          <a:ln/>
        </p:spPr>
        <p:txBody>
          <a:bodyPr wrap="square" rtlCol="0" anchor="ctr"/>
          <a:lstStyle/>
          <a:p>
            <a:pPr algn="r" indent="0" marL="0">
              <a:buNone/>
            </a:pPr>
            <a:r>
              <a:rPr lang="en-US" sz="800" dirty="0">
                <a:solidFill>
                  <a:srgbClr val="8A898A"/>
                </a:solidFill>
                <a:latin typeface="Arial" pitchFamily="34" charset="0"/>
                <a:ea typeface="Arial" pitchFamily="34" charset="-122"/>
                <a:cs typeface="Arial" pitchFamily="34" charset="-120"/>
              </a:rPr>
              <a:t>07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0A691"/>
          </a:solidFill>
          <a:ln w="12700">
            <a:solidFill>
              <a:srgbClr val="00A691"/>
            </a:solidFill>
            <a:prstDash val="solid"/>
          </a:ln>
        </p:spPr>
      </p:sp>
      <p:sp>
        <p:nvSpPr>
          <p:cNvPr id="3" name="Text 1"/>
          <p:cNvSpPr/>
          <p:nvPr/>
        </p:nvSpPr>
        <p:spPr>
          <a:xfrm>
            <a:off x="502920" y="411480"/>
            <a:ext cx="5029200" cy="640080"/>
          </a:xfrm>
          <a:prstGeom prst="rect">
            <a:avLst/>
          </a:prstGeom>
          <a:noFill/>
          <a:ln/>
        </p:spPr>
        <p:txBody>
          <a:bodyPr wrap="square" rtlCol="0" anchor="ctr"/>
          <a:lstStyle/>
          <a:p>
            <a:pPr indent="0" marL="0">
              <a:buNone/>
            </a:pPr>
            <a:r>
              <a:rPr lang="en-US" sz="2800" b="1" dirty="0">
                <a:solidFill>
                  <a:srgbClr val="4F4E4F"/>
                </a:solidFill>
                <a:latin typeface="Arial" pitchFamily="34" charset="0"/>
                <a:ea typeface="Arial" pitchFamily="34" charset="-122"/>
                <a:cs typeface="Arial" pitchFamily="34" charset="-120"/>
              </a:rPr>
              <a:t>Relationship-Driven Growth</a:t>
            </a:r>
            <a:endParaRPr lang="en-US" sz="2800" dirty="0"/>
          </a:p>
        </p:txBody>
      </p:sp>
      <p:sp>
        <p:nvSpPr>
          <p:cNvPr id="4" name="Text 2"/>
          <p:cNvSpPr/>
          <p:nvPr/>
        </p:nvSpPr>
        <p:spPr>
          <a:xfrm>
            <a:off x="502920" y="1097280"/>
            <a:ext cx="5303520" cy="502920"/>
          </a:xfrm>
          <a:prstGeom prst="rect">
            <a:avLst/>
          </a:prstGeom>
          <a:noFill/>
          <a:ln/>
        </p:spPr>
        <p:txBody>
          <a:bodyPr wrap="square" rtlCol="0" anchor="ctr"/>
          <a:lstStyle/>
          <a:p>
            <a:pPr indent="0" marL="0">
              <a:buNone/>
            </a:pPr>
            <a:r>
              <a:rPr lang="en-US" sz="1300" i="1" dirty="0">
                <a:solidFill>
                  <a:srgbClr val="8A898A"/>
                </a:solidFill>
                <a:latin typeface="Arial" pitchFamily="34" charset="0"/>
                <a:ea typeface="Arial" pitchFamily="34" charset="-122"/>
                <a:cs typeface="Arial" pitchFamily="34" charset="-120"/>
              </a:rPr>
              <a:t>Go-To-Market Strategy</a:t>
            </a:r>
            <a:endParaRPr lang="en-US" sz="1300" dirty="0"/>
          </a:p>
        </p:txBody>
      </p:sp>
      <p:sp>
        <p:nvSpPr>
          <p:cNvPr id="5" name="Shape 3"/>
          <p:cNvSpPr/>
          <p:nvPr/>
        </p:nvSpPr>
        <p:spPr>
          <a:xfrm>
            <a:off x="502920" y="1371600"/>
            <a:ext cx="5303520" cy="914400"/>
          </a:xfrm>
          <a:prstGeom prst="roundRect">
            <a:avLst>
              <a:gd name="adj" fmla="val 6000"/>
            </a:avLst>
          </a:prstGeom>
          <a:solidFill>
            <a:srgbClr val="F5F5F5"/>
          </a:solidFill>
          <a:ln w="12700">
            <a:solidFill>
              <a:srgbClr val="E0E0E0"/>
            </a:solidFill>
            <a:prstDash val="solid"/>
          </a:ln>
        </p:spPr>
      </p:sp>
      <p:sp>
        <p:nvSpPr>
          <p:cNvPr id="6" name="Text 4"/>
          <p:cNvSpPr/>
          <p:nvPr/>
        </p:nvSpPr>
        <p:spPr>
          <a:xfrm>
            <a:off x="685800" y="1481328"/>
            <a:ext cx="914400" cy="274320"/>
          </a:xfrm>
          <a:prstGeom prst="rect">
            <a:avLst/>
          </a:prstGeom>
          <a:noFill/>
          <a:ln/>
        </p:spPr>
        <p:txBody>
          <a:bodyPr wrap="square" rtlCol="0" anchor="ctr"/>
          <a:lstStyle/>
          <a:p>
            <a:pPr indent="0" marL="0">
              <a:buNone/>
            </a:pPr>
            <a:r>
              <a:rPr lang="en-US" sz="900" b="1" dirty="0">
                <a:solidFill>
                  <a:srgbClr val="F1583B"/>
                </a:solidFill>
                <a:latin typeface="Arial" pitchFamily="34" charset="0"/>
                <a:ea typeface="Arial" pitchFamily="34" charset="-122"/>
                <a:cs typeface="Arial" pitchFamily="34" charset="-120"/>
              </a:rPr>
              <a:t>Phase 1</a:t>
            </a:r>
            <a:endParaRPr lang="en-US" sz="900" dirty="0"/>
          </a:p>
        </p:txBody>
      </p:sp>
      <p:sp>
        <p:nvSpPr>
          <p:cNvPr id="7" name="Text 5"/>
          <p:cNvSpPr/>
          <p:nvPr/>
        </p:nvSpPr>
        <p:spPr>
          <a:xfrm>
            <a:off x="1691640" y="1463040"/>
            <a:ext cx="3840480" cy="320040"/>
          </a:xfrm>
          <a:prstGeom prst="rect">
            <a:avLst/>
          </a:prstGeom>
          <a:noFill/>
          <a:ln/>
        </p:spPr>
        <p:txBody>
          <a:bodyPr wrap="square" rtlCol="0" anchor="ctr"/>
          <a:lstStyle/>
          <a:p>
            <a:pPr indent="0" marL="0">
              <a:buNone/>
            </a:pPr>
            <a:r>
              <a:rPr lang="en-US" sz="1400" b="1" dirty="0">
                <a:solidFill>
                  <a:srgbClr val="4F4E4F"/>
                </a:solidFill>
                <a:latin typeface="Arial" pitchFamily="34" charset="0"/>
                <a:ea typeface="Arial" pitchFamily="34" charset="-122"/>
                <a:cs typeface="Arial" pitchFamily="34" charset="-120"/>
              </a:rPr>
              <a:t>Warm Outreach</a:t>
            </a:r>
            <a:endParaRPr lang="en-US" sz="1400" dirty="0"/>
          </a:p>
        </p:txBody>
      </p:sp>
      <p:sp>
        <p:nvSpPr>
          <p:cNvPr id="8" name="Text 6"/>
          <p:cNvSpPr/>
          <p:nvPr/>
        </p:nvSpPr>
        <p:spPr>
          <a:xfrm>
            <a:off x="1691640" y="1783080"/>
            <a:ext cx="3931920" cy="457200"/>
          </a:xfrm>
          <a:prstGeom prst="rect">
            <a:avLst/>
          </a:prstGeom>
          <a:noFill/>
          <a:ln/>
        </p:spPr>
        <p:txBody>
          <a:bodyPr wrap="square" rtlCol="0" anchor="ctr"/>
          <a:lstStyle/>
          <a:p>
            <a:pPr indent="0" marL="0">
              <a:buNone/>
            </a:pPr>
            <a:r>
              <a:rPr lang="en-US" sz="1000" dirty="0">
                <a:solidFill>
                  <a:srgbClr val="8A898A"/>
                </a:solidFill>
                <a:latin typeface="Arial" pitchFamily="34" charset="0"/>
                <a:ea typeface="Arial" pitchFamily="34" charset="-122"/>
                <a:cs typeface="Arial" pitchFamily="34" charset="-120"/>
              </a:rPr>
              <a:t>Use existing industry relationships for 30-minute problem-validation chats — not cold sales pitches.</a:t>
            </a:r>
            <a:endParaRPr lang="en-US" sz="1000" dirty="0"/>
          </a:p>
        </p:txBody>
      </p:sp>
      <p:sp>
        <p:nvSpPr>
          <p:cNvPr id="9" name="Shape 7"/>
          <p:cNvSpPr/>
          <p:nvPr/>
        </p:nvSpPr>
        <p:spPr>
          <a:xfrm>
            <a:off x="502920" y="2468880"/>
            <a:ext cx="5303520" cy="914400"/>
          </a:xfrm>
          <a:prstGeom prst="roundRect">
            <a:avLst>
              <a:gd name="adj" fmla="val 6000"/>
            </a:avLst>
          </a:prstGeom>
          <a:solidFill>
            <a:srgbClr val="F5F5F5"/>
          </a:solidFill>
          <a:ln w="12700">
            <a:solidFill>
              <a:srgbClr val="E0E0E0"/>
            </a:solidFill>
            <a:prstDash val="solid"/>
          </a:ln>
        </p:spPr>
      </p:sp>
      <p:sp>
        <p:nvSpPr>
          <p:cNvPr id="10" name="Text 8"/>
          <p:cNvSpPr/>
          <p:nvPr/>
        </p:nvSpPr>
        <p:spPr>
          <a:xfrm>
            <a:off x="685800" y="2578608"/>
            <a:ext cx="914400" cy="274320"/>
          </a:xfrm>
          <a:prstGeom prst="rect">
            <a:avLst/>
          </a:prstGeom>
          <a:noFill/>
          <a:ln/>
        </p:spPr>
        <p:txBody>
          <a:bodyPr wrap="square" rtlCol="0" anchor="ctr"/>
          <a:lstStyle/>
          <a:p>
            <a:pPr indent="0" marL="0">
              <a:buNone/>
            </a:pPr>
            <a:r>
              <a:rPr lang="en-US" sz="900" b="1" dirty="0">
                <a:solidFill>
                  <a:srgbClr val="F1583B"/>
                </a:solidFill>
                <a:latin typeface="Arial" pitchFamily="34" charset="0"/>
                <a:ea typeface="Arial" pitchFamily="34" charset="-122"/>
                <a:cs typeface="Arial" pitchFamily="34" charset="-120"/>
              </a:rPr>
              <a:t>Phase 2</a:t>
            </a:r>
            <a:endParaRPr lang="en-US" sz="900" dirty="0"/>
          </a:p>
        </p:txBody>
      </p:sp>
      <p:sp>
        <p:nvSpPr>
          <p:cNvPr id="11" name="Text 9"/>
          <p:cNvSpPr/>
          <p:nvPr/>
        </p:nvSpPr>
        <p:spPr>
          <a:xfrm>
            <a:off x="1691640" y="2560320"/>
            <a:ext cx="3840480" cy="320040"/>
          </a:xfrm>
          <a:prstGeom prst="rect">
            <a:avLst/>
          </a:prstGeom>
          <a:noFill/>
          <a:ln/>
        </p:spPr>
        <p:txBody>
          <a:bodyPr wrap="square" rtlCol="0" anchor="ctr"/>
          <a:lstStyle/>
          <a:p>
            <a:pPr indent="0" marL="0">
              <a:buNone/>
            </a:pPr>
            <a:r>
              <a:rPr lang="en-US" sz="1400" b="1" dirty="0">
                <a:solidFill>
                  <a:srgbClr val="4F4E4F"/>
                </a:solidFill>
                <a:latin typeface="Arial" pitchFamily="34" charset="0"/>
                <a:ea typeface="Arial" pitchFamily="34" charset="-122"/>
                <a:cs typeface="Arial" pitchFamily="34" charset="-120"/>
              </a:rPr>
              <a:t>Pilot Program</a:t>
            </a:r>
            <a:endParaRPr lang="en-US" sz="1400" dirty="0"/>
          </a:p>
        </p:txBody>
      </p:sp>
      <p:sp>
        <p:nvSpPr>
          <p:cNvPr id="12" name="Text 10"/>
          <p:cNvSpPr/>
          <p:nvPr/>
        </p:nvSpPr>
        <p:spPr>
          <a:xfrm>
            <a:off x="1691640" y="2880360"/>
            <a:ext cx="3931920" cy="457200"/>
          </a:xfrm>
          <a:prstGeom prst="rect">
            <a:avLst/>
          </a:prstGeom>
          <a:noFill/>
          <a:ln/>
        </p:spPr>
        <p:txBody>
          <a:bodyPr wrap="square" rtlCol="0" anchor="ctr"/>
          <a:lstStyle/>
          <a:p>
            <a:pPr indent="0" marL="0">
              <a:buNone/>
            </a:pPr>
            <a:r>
              <a:rPr lang="en-US" sz="1000" dirty="0">
                <a:solidFill>
                  <a:srgbClr val="8A898A"/>
                </a:solidFill>
                <a:latin typeface="Arial" pitchFamily="34" charset="0"/>
                <a:ea typeface="Arial" pitchFamily="34" charset="-122"/>
                <a:cs typeface="Arial" pitchFamily="34" charset="-120"/>
              </a:rPr>
              <a:t>Onboard 2–3 firms on a free or discounted 3-month pilot to document downtime reduction and cost savings.</a:t>
            </a:r>
            <a:endParaRPr lang="en-US" sz="1000" dirty="0"/>
          </a:p>
        </p:txBody>
      </p:sp>
      <p:sp>
        <p:nvSpPr>
          <p:cNvPr id="13" name="Shape 11"/>
          <p:cNvSpPr/>
          <p:nvPr/>
        </p:nvSpPr>
        <p:spPr>
          <a:xfrm>
            <a:off x="502920" y="3566160"/>
            <a:ext cx="5303520" cy="914400"/>
          </a:xfrm>
          <a:prstGeom prst="roundRect">
            <a:avLst>
              <a:gd name="adj" fmla="val 6000"/>
            </a:avLst>
          </a:prstGeom>
          <a:solidFill>
            <a:srgbClr val="F5F5F5"/>
          </a:solidFill>
          <a:ln w="12700">
            <a:solidFill>
              <a:srgbClr val="E0E0E0"/>
            </a:solidFill>
            <a:prstDash val="solid"/>
          </a:ln>
        </p:spPr>
      </p:sp>
      <p:sp>
        <p:nvSpPr>
          <p:cNvPr id="14" name="Text 12"/>
          <p:cNvSpPr/>
          <p:nvPr/>
        </p:nvSpPr>
        <p:spPr>
          <a:xfrm>
            <a:off x="685800" y="3675888"/>
            <a:ext cx="914400" cy="274320"/>
          </a:xfrm>
          <a:prstGeom prst="rect">
            <a:avLst/>
          </a:prstGeom>
          <a:noFill/>
          <a:ln/>
        </p:spPr>
        <p:txBody>
          <a:bodyPr wrap="square" rtlCol="0" anchor="ctr"/>
          <a:lstStyle/>
          <a:p>
            <a:pPr indent="0" marL="0">
              <a:buNone/>
            </a:pPr>
            <a:r>
              <a:rPr lang="en-US" sz="900" b="1" dirty="0">
                <a:solidFill>
                  <a:srgbClr val="F1583B"/>
                </a:solidFill>
                <a:latin typeface="Arial" pitchFamily="34" charset="0"/>
                <a:ea typeface="Arial" pitchFamily="34" charset="-122"/>
                <a:cs typeface="Arial" pitchFamily="34" charset="-120"/>
              </a:rPr>
              <a:t>Phase 3</a:t>
            </a:r>
            <a:endParaRPr lang="en-US" sz="900" dirty="0"/>
          </a:p>
        </p:txBody>
      </p:sp>
      <p:sp>
        <p:nvSpPr>
          <p:cNvPr id="15" name="Text 13"/>
          <p:cNvSpPr/>
          <p:nvPr/>
        </p:nvSpPr>
        <p:spPr>
          <a:xfrm>
            <a:off x="1691640" y="3657600"/>
            <a:ext cx="3840480" cy="320040"/>
          </a:xfrm>
          <a:prstGeom prst="rect">
            <a:avLst/>
          </a:prstGeom>
          <a:noFill/>
          <a:ln/>
        </p:spPr>
        <p:txBody>
          <a:bodyPr wrap="square" rtlCol="0" anchor="ctr"/>
          <a:lstStyle/>
          <a:p>
            <a:pPr indent="0" marL="0">
              <a:buNone/>
            </a:pPr>
            <a:r>
              <a:rPr lang="en-US" sz="1400" b="1" dirty="0">
                <a:solidFill>
                  <a:srgbClr val="4F4E4F"/>
                </a:solidFill>
                <a:latin typeface="Arial" pitchFamily="34" charset="0"/>
                <a:ea typeface="Arial" pitchFamily="34" charset="-122"/>
                <a:cs typeface="Arial" pitchFamily="34" charset="-120"/>
              </a:rPr>
              <a:t>Convert &amp; Refer</a:t>
            </a:r>
            <a:endParaRPr lang="en-US" sz="1400" dirty="0"/>
          </a:p>
        </p:txBody>
      </p:sp>
      <p:sp>
        <p:nvSpPr>
          <p:cNvPr id="16" name="Text 14"/>
          <p:cNvSpPr/>
          <p:nvPr/>
        </p:nvSpPr>
        <p:spPr>
          <a:xfrm>
            <a:off x="1691640" y="3977640"/>
            <a:ext cx="3931920" cy="457200"/>
          </a:xfrm>
          <a:prstGeom prst="rect">
            <a:avLst/>
          </a:prstGeom>
          <a:noFill/>
          <a:ln/>
        </p:spPr>
        <p:txBody>
          <a:bodyPr wrap="square" rtlCol="0" anchor="ctr"/>
          <a:lstStyle/>
          <a:p>
            <a:pPr indent="0" marL="0">
              <a:buNone/>
            </a:pPr>
            <a:r>
              <a:rPr lang="en-US" sz="1000" dirty="0">
                <a:solidFill>
                  <a:srgbClr val="8A898A"/>
                </a:solidFill>
                <a:latin typeface="Arial" pitchFamily="34" charset="0"/>
                <a:ea typeface="Arial" pitchFamily="34" charset="-122"/>
                <a:cs typeface="Arial" pitchFamily="34" charset="-120"/>
              </a:rPr>
              <a:t>Convert pilots to paying customers. Leverage Ghana Institution of Engineers for visibility.</a:t>
            </a:r>
            <a:endParaRPr lang="en-US" sz="1000" dirty="0"/>
          </a:p>
        </p:txBody>
      </p:sp>
      <p:pic>
        <p:nvPicPr>
          <p:cNvPr id="17" name="Image 0" descr="C:\Users\Duapa Werkspace 010\Desktop\MantroOps\docs\presentation-assets\ghana-workers.jpg">    </p:cNvPr>
          <p:cNvPicPr>
            <a:picLocks noChangeAspect="1"/>
          </p:cNvPicPr>
          <p:nvPr/>
        </p:nvPicPr>
        <p:blipFill>
          <a:blip r:embed="rId1"/>
          <a:srcRect l="0" r="0" t="0" b="0"/>
          <a:stretch/>
        </p:blipFill>
        <p:spPr>
          <a:xfrm>
            <a:off x="6035040" y="1097280"/>
            <a:ext cx="2606040" cy="3291840"/>
          </a:xfrm>
          <a:prstGeom prst="ellipse">
            <a:avLst/>
          </a:prstGeom>
        </p:spPr>
      </p:pic>
      <p:sp>
        <p:nvSpPr>
          <p:cNvPr id="18" name="Text 15"/>
          <p:cNvSpPr/>
          <p:nvPr/>
        </p:nvSpPr>
        <p:spPr>
          <a:xfrm>
            <a:off x="457200" y="4709160"/>
            <a:ext cx="5486400" cy="274320"/>
          </a:xfrm>
          <a:prstGeom prst="rect">
            <a:avLst/>
          </a:prstGeom>
          <a:noFill/>
          <a:ln/>
        </p:spPr>
        <p:txBody>
          <a:bodyPr wrap="square" rtlCol="0" anchor="ctr"/>
          <a:lstStyle/>
          <a:p>
            <a:pPr indent="0" marL="0">
              <a:buNone/>
            </a:pPr>
            <a:r>
              <a:rPr lang="en-US" sz="800" dirty="0">
                <a:solidFill>
                  <a:srgbClr val="8A898A"/>
                </a:solidFill>
                <a:latin typeface="Arial" pitchFamily="34" charset="0"/>
                <a:ea typeface="Arial" pitchFamily="34" charset="-122"/>
                <a:cs typeface="Arial" pitchFamily="34" charset="-120"/>
              </a:rPr>
              <a:t>mantroOps  ·  Project Kickoff  ·  June 2025</a:t>
            </a:r>
            <a:endParaRPr lang="en-US" sz="800" dirty="0"/>
          </a:p>
        </p:txBody>
      </p:sp>
      <p:sp>
        <p:nvSpPr>
          <p:cNvPr id="19" name="Text 16"/>
          <p:cNvSpPr/>
          <p:nvPr/>
        </p:nvSpPr>
        <p:spPr>
          <a:xfrm>
            <a:off x="7772400" y="4709160"/>
            <a:ext cx="914400" cy="274320"/>
          </a:xfrm>
          <a:prstGeom prst="rect">
            <a:avLst/>
          </a:prstGeom>
          <a:noFill/>
          <a:ln/>
        </p:spPr>
        <p:txBody>
          <a:bodyPr wrap="square" rtlCol="0" anchor="ctr"/>
          <a:lstStyle/>
          <a:p>
            <a:pPr algn="r" indent="0" marL="0">
              <a:buNone/>
            </a:pPr>
            <a:r>
              <a:rPr lang="en-US" sz="800" dirty="0">
                <a:solidFill>
                  <a:srgbClr val="8A898A"/>
                </a:solidFill>
                <a:latin typeface="Arial" pitchFamily="34" charset="0"/>
                <a:ea typeface="Arial" pitchFamily="34" charset="-122"/>
                <a:cs typeface="Arial" pitchFamily="34" charset="-120"/>
              </a:rPr>
              <a:t>08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4F4E4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0A691"/>
          </a:solidFill>
          <a:ln w="12700">
            <a:solidFill>
              <a:srgbClr val="00A691"/>
            </a:solidFill>
            <a:prstDash val="solid"/>
          </a:ln>
        </p:spPr>
      </p:sp>
      <p:sp>
        <p:nvSpPr>
          <p:cNvPr id="3" name="Text 1"/>
          <p:cNvSpPr/>
          <p:nvPr/>
        </p:nvSpPr>
        <p:spPr>
          <a:xfrm>
            <a:off x="502920" y="411480"/>
            <a:ext cx="7315200" cy="50292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Design Guidelines &amp; Visual Intent</a:t>
            </a:r>
            <a:endParaRPr lang="en-US" sz="2800" dirty="0"/>
          </a:p>
        </p:txBody>
      </p:sp>
      <p:sp>
        <p:nvSpPr>
          <p:cNvPr id="4" name="Text 2"/>
          <p:cNvSpPr/>
          <p:nvPr/>
        </p:nvSpPr>
        <p:spPr>
          <a:xfrm>
            <a:off x="502920" y="914400"/>
            <a:ext cx="7315200" cy="320040"/>
          </a:xfrm>
          <a:prstGeom prst="rect">
            <a:avLst/>
          </a:prstGeom>
          <a:noFill/>
          <a:ln/>
        </p:spPr>
        <p:txBody>
          <a:bodyPr wrap="square" rtlCol="0" anchor="ctr"/>
          <a:lstStyle/>
          <a:p>
            <a:pPr indent="0" marL="0">
              <a:buNone/>
            </a:pPr>
            <a:r>
              <a:rPr lang="en-US" sz="1300" i="1" dirty="0">
                <a:solidFill>
                  <a:srgbClr val="CCCCCC"/>
                </a:solidFill>
                <a:latin typeface="Arial" pitchFamily="34" charset="0"/>
                <a:ea typeface="Arial" pitchFamily="34" charset="-122"/>
                <a:cs typeface="Arial" pitchFamily="34" charset="-120"/>
              </a:rPr>
              <a:t>Product Brand &amp; Identity</a:t>
            </a:r>
            <a:endParaRPr lang="en-US" sz="1300" dirty="0"/>
          </a:p>
        </p:txBody>
      </p:sp>
      <p:sp>
        <p:nvSpPr>
          <p:cNvPr id="5" name="Shape 3"/>
          <p:cNvSpPr/>
          <p:nvPr/>
        </p:nvSpPr>
        <p:spPr>
          <a:xfrm>
            <a:off x="502920" y="1417320"/>
            <a:ext cx="3977640" cy="1417320"/>
          </a:xfrm>
          <a:prstGeom prst="roundRect">
            <a:avLst>
              <a:gd name="adj" fmla="val 5161"/>
            </a:avLst>
          </a:prstGeom>
          <a:solidFill>
            <a:srgbClr val="3A3A3A"/>
          </a:solidFill>
          <a:ln w="12700">
            <a:solidFill>
              <a:srgbClr val="555555"/>
            </a:solidFill>
            <a:prstDash val="solid"/>
          </a:ln>
        </p:spPr>
      </p:sp>
      <p:sp>
        <p:nvSpPr>
          <p:cNvPr id="6" name="Shape 4"/>
          <p:cNvSpPr/>
          <p:nvPr/>
        </p:nvSpPr>
        <p:spPr>
          <a:xfrm>
            <a:off x="685800" y="1645920"/>
            <a:ext cx="640080" cy="960120"/>
          </a:xfrm>
          <a:prstGeom prst="roundRect">
            <a:avLst>
              <a:gd name="adj" fmla="val 8571"/>
            </a:avLst>
          </a:prstGeom>
          <a:solidFill>
            <a:srgbClr val="F1583B"/>
          </a:solidFill>
          <a:ln w="12700">
            <a:solidFill>
              <a:srgbClr val="F1583B"/>
            </a:solidFill>
            <a:prstDash val="solid"/>
          </a:ln>
        </p:spPr>
      </p:sp>
      <p:sp>
        <p:nvSpPr>
          <p:cNvPr id="7" name="Text 5"/>
          <p:cNvSpPr/>
          <p:nvPr/>
        </p:nvSpPr>
        <p:spPr>
          <a:xfrm>
            <a:off x="1508760" y="1691640"/>
            <a:ext cx="2834640" cy="32004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Big Smile Papaya</a:t>
            </a:r>
            <a:endParaRPr lang="en-US" sz="1400" dirty="0"/>
          </a:p>
        </p:txBody>
      </p:sp>
      <p:sp>
        <p:nvSpPr>
          <p:cNvPr id="8" name="Text 6"/>
          <p:cNvSpPr/>
          <p:nvPr/>
        </p:nvSpPr>
        <p:spPr>
          <a:xfrm>
            <a:off x="1508760" y="2011680"/>
            <a:ext cx="2834640" cy="228600"/>
          </a:xfrm>
          <a:prstGeom prst="rect">
            <a:avLst/>
          </a:prstGeom>
          <a:noFill/>
          <a:ln/>
        </p:spPr>
        <p:txBody>
          <a:bodyPr wrap="square" rtlCol="0" anchor="ctr"/>
          <a:lstStyle/>
          <a:p>
            <a:pPr indent="0" marL="0">
              <a:buNone/>
            </a:pPr>
            <a:r>
              <a:rPr lang="en-US" sz="1100" dirty="0">
                <a:solidFill>
                  <a:srgbClr val="F1583B"/>
                </a:solidFill>
                <a:latin typeface="Arial" pitchFamily="34" charset="0"/>
                <a:ea typeface="Arial" pitchFamily="34" charset="-122"/>
                <a:cs typeface="Arial" pitchFamily="34" charset="-120"/>
              </a:rPr>
              <a:t>#F1583B</a:t>
            </a:r>
            <a:endParaRPr lang="en-US" sz="1100" dirty="0"/>
          </a:p>
        </p:txBody>
      </p:sp>
      <p:sp>
        <p:nvSpPr>
          <p:cNvPr id="9" name="Text 7"/>
          <p:cNvSpPr/>
          <p:nvPr/>
        </p:nvSpPr>
        <p:spPr>
          <a:xfrm>
            <a:off x="1508760" y="2286000"/>
            <a:ext cx="2834640" cy="411480"/>
          </a:xfrm>
          <a:prstGeom prst="rect">
            <a:avLst/>
          </a:prstGeom>
          <a:noFill/>
          <a:ln/>
        </p:spPr>
        <p:txBody>
          <a:bodyPr wrap="square" rtlCol="0" anchor="ctr"/>
          <a:lstStyle/>
          <a:p>
            <a:pPr indent="0" marL="0">
              <a:buNone/>
            </a:pPr>
            <a:r>
              <a:rPr lang="en-US" sz="1000" dirty="0">
                <a:solidFill>
                  <a:srgbClr val="BBBBBB"/>
                </a:solidFill>
                <a:latin typeface="Arial" pitchFamily="34" charset="0"/>
                <a:ea typeface="Arial" pitchFamily="34" charset="-122"/>
                <a:cs typeface="Arial" pitchFamily="34" charset="-120"/>
              </a:rPr>
              <a:t>Logos, primary buttons, key CTAs</a:t>
            </a:r>
            <a:endParaRPr lang="en-US" sz="1000" dirty="0"/>
          </a:p>
        </p:txBody>
      </p:sp>
      <p:sp>
        <p:nvSpPr>
          <p:cNvPr id="10" name="Shape 8"/>
          <p:cNvSpPr/>
          <p:nvPr/>
        </p:nvSpPr>
        <p:spPr>
          <a:xfrm>
            <a:off x="4800600" y="1417320"/>
            <a:ext cx="3977640" cy="1417320"/>
          </a:xfrm>
          <a:prstGeom prst="roundRect">
            <a:avLst>
              <a:gd name="adj" fmla="val 5161"/>
            </a:avLst>
          </a:prstGeom>
          <a:solidFill>
            <a:srgbClr val="3A3A3A"/>
          </a:solidFill>
          <a:ln w="12700">
            <a:solidFill>
              <a:srgbClr val="555555"/>
            </a:solidFill>
            <a:prstDash val="solid"/>
          </a:ln>
        </p:spPr>
      </p:sp>
      <p:sp>
        <p:nvSpPr>
          <p:cNvPr id="11" name="Shape 9"/>
          <p:cNvSpPr/>
          <p:nvPr/>
        </p:nvSpPr>
        <p:spPr>
          <a:xfrm>
            <a:off x="4983480" y="1645920"/>
            <a:ext cx="640080" cy="960120"/>
          </a:xfrm>
          <a:prstGeom prst="roundRect">
            <a:avLst>
              <a:gd name="adj" fmla="val 8571"/>
            </a:avLst>
          </a:prstGeom>
          <a:solidFill>
            <a:srgbClr val="4F4E4F"/>
          </a:solidFill>
          <a:ln w="12700">
            <a:solidFill>
              <a:srgbClr val="4F4E4F"/>
            </a:solidFill>
            <a:prstDash val="solid"/>
          </a:ln>
        </p:spPr>
      </p:sp>
      <p:sp>
        <p:nvSpPr>
          <p:cNvPr id="12" name="Text 10"/>
          <p:cNvSpPr/>
          <p:nvPr/>
        </p:nvSpPr>
        <p:spPr>
          <a:xfrm>
            <a:off x="5806440" y="1691640"/>
            <a:ext cx="2834640" cy="32004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Foggy Day Gray</a:t>
            </a:r>
            <a:endParaRPr lang="en-US" sz="1400" dirty="0"/>
          </a:p>
        </p:txBody>
      </p:sp>
      <p:sp>
        <p:nvSpPr>
          <p:cNvPr id="13" name="Text 11"/>
          <p:cNvSpPr/>
          <p:nvPr/>
        </p:nvSpPr>
        <p:spPr>
          <a:xfrm>
            <a:off x="5806440" y="2011680"/>
            <a:ext cx="2834640" cy="228600"/>
          </a:xfrm>
          <a:prstGeom prst="rect">
            <a:avLst/>
          </a:prstGeom>
          <a:noFill/>
          <a:ln/>
        </p:spPr>
        <p:txBody>
          <a:bodyPr wrap="square" rtlCol="0" anchor="ctr"/>
          <a:lstStyle/>
          <a:p>
            <a:pPr indent="0" marL="0">
              <a:buNone/>
            </a:pPr>
            <a:r>
              <a:rPr lang="en-US" sz="1100" dirty="0">
                <a:solidFill>
                  <a:srgbClr val="F1583B"/>
                </a:solidFill>
                <a:latin typeface="Arial" pitchFamily="34" charset="0"/>
                <a:ea typeface="Arial" pitchFamily="34" charset="-122"/>
                <a:cs typeface="Arial" pitchFamily="34" charset="-120"/>
              </a:rPr>
              <a:t>#4F4E4F</a:t>
            </a:r>
            <a:endParaRPr lang="en-US" sz="1100" dirty="0"/>
          </a:p>
        </p:txBody>
      </p:sp>
      <p:sp>
        <p:nvSpPr>
          <p:cNvPr id="14" name="Text 12"/>
          <p:cNvSpPr/>
          <p:nvPr/>
        </p:nvSpPr>
        <p:spPr>
          <a:xfrm>
            <a:off x="5806440" y="2286000"/>
            <a:ext cx="2834640" cy="411480"/>
          </a:xfrm>
          <a:prstGeom prst="rect">
            <a:avLst/>
          </a:prstGeom>
          <a:noFill/>
          <a:ln/>
        </p:spPr>
        <p:txBody>
          <a:bodyPr wrap="square" rtlCol="0" anchor="ctr"/>
          <a:lstStyle/>
          <a:p>
            <a:pPr indent="0" marL="0">
              <a:buNone/>
            </a:pPr>
            <a:r>
              <a:rPr lang="en-US" sz="1000" dirty="0">
                <a:solidFill>
                  <a:srgbClr val="BBBBBB"/>
                </a:solidFill>
                <a:latin typeface="Arial" pitchFamily="34" charset="0"/>
                <a:ea typeface="Arial" pitchFamily="34" charset="-122"/>
                <a:cs typeface="Arial" pitchFamily="34" charset="-120"/>
              </a:rPr>
              <a:t>Body text and secondary UI elements</a:t>
            </a:r>
            <a:endParaRPr lang="en-US" sz="1000" dirty="0"/>
          </a:p>
        </p:txBody>
      </p:sp>
      <p:sp>
        <p:nvSpPr>
          <p:cNvPr id="15" name="Shape 13"/>
          <p:cNvSpPr/>
          <p:nvPr/>
        </p:nvSpPr>
        <p:spPr>
          <a:xfrm>
            <a:off x="502920" y="3108960"/>
            <a:ext cx="3977640" cy="1417320"/>
          </a:xfrm>
          <a:prstGeom prst="roundRect">
            <a:avLst>
              <a:gd name="adj" fmla="val 5161"/>
            </a:avLst>
          </a:prstGeom>
          <a:solidFill>
            <a:srgbClr val="3A3A3A"/>
          </a:solidFill>
          <a:ln w="12700">
            <a:solidFill>
              <a:srgbClr val="555555"/>
            </a:solidFill>
            <a:prstDash val="solid"/>
          </a:ln>
        </p:spPr>
      </p:sp>
      <p:sp>
        <p:nvSpPr>
          <p:cNvPr id="16" name="Shape 14"/>
          <p:cNvSpPr/>
          <p:nvPr/>
        </p:nvSpPr>
        <p:spPr>
          <a:xfrm>
            <a:off x="685800" y="3337560"/>
            <a:ext cx="640080" cy="960120"/>
          </a:xfrm>
          <a:prstGeom prst="roundRect">
            <a:avLst>
              <a:gd name="adj" fmla="val 8571"/>
            </a:avLst>
          </a:prstGeom>
          <a:solidFill>
            <a:srgbClr val="00A691"/>
          </a:solidFill>
          <a:ln w="12700">
            <a:solidFill>
              <a:srgbClr val="00A691"/>
            </a:solidFill>
            <a:prstDash val="solid"/>
          </a:ln>
        </p:spPr>
      </p:sp>
      <p:sp>
        <p:nvSpPr>
          <p:cNvPr id="17" name="Text 15"/>
          <p:cNvSpPr/>
          <p:nvPr/>
        </p:nvSpPr>
        <p:spPr>
          <a:xfrm>
            <a:off x="1508760" y="3383280"/>
            <a:ext cx="2834640" cy="32004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Verdemar Seguro</a:t>
            </a:r>
            <a:endParaRPr lang="en-US" sz="1400" dirty="0"/>
          </a:p>
        </p:txBody>
      </p:sp>
      <p:sp>
        <p:nvSpPr>
          <p:cNvPr id="18" name="Text 16"/>
          <p:cNvSpPr/>
          <p:nvPr/>
        </p:nvSpPr>
        <p:spPr>
          <a:xfrm>
            <a:off x="1508760" y="3703320"/>
            <a:ext cx="2834640" cy="228600"/>
          </a:xfrm>
          <a:prstGeom prst="rect">
            <a:avLst/>
          </a:prstGeom>
          <a:noFill/>
          <a:ln/>
        </p:spPr>
        <p:txBody>
          <a:bodyPr wrap="square" rtlCol="0" anchor="ctr"/>
          <a:lstStyle/>
          <a:p>
            <a:pPr indent="0" marL="0">
              <a:buNone/>
            </a:pPr>
            <a:r>
              <a:rPr lang="en-US" sz="1100" dirty="0">
                <a:solidFill>
                  <a:srgbClr val="F1583B"/>
                </a:solidFill>
                <a:latin typeface="Arial" pitchFamily="34" charset="0"/>
                <a:ea typeface="Arial" pitchFamily="34" charset="-122"/>
                <a:cs typeface="Arial" pitchFamily="34" charset="-120"/>
              </a:rPr>
              <a:t>#00A691</a:t>
            </a:r>
            <a:endParaRPr lang="en-US" sz="1100" dirty="0"/>
          </a:p>
        </p:txBody>
      </p:sp>
      <p:sp>
        <p:nvSpPr>
          <p:cNvPr id="19" name="Text 17"/>
          <p:cNvSpPr/>
          <p:nvPr/>
        </p:nvSpPr>
        <p:spPr>
          <a:xfrm>
            <a:off x="1508760" y="3977640"/>
            <a:ext cx="2834640" cy="411480"/>
          </a:xfrm>
          <a:prstGeom prst="rect">
            <a:avLst/>
          </a:prstGeom>
          <a:noFill/>
          <a:ln/>
        </p:spPr>
        <p:txBody>
          <a:bodyPr wrap="square" rtlCol="0" anchor="ctr"/>
          <a:lstStyle/>
          <a:p>
            <a:pPr indent="0" marL="0">
              <a:buNone/>
            </a:pPr>
            <a:r>
              <a:rPr lang="en-US" sz="1000" dirty="0">
                <a:solidFill>
                  <a:srgbClr val="BBBBBB"/>
                </a:solidFill>
                <a:latin typeface="Arial" pitchFamily="34" charset="0"/>
                <a:ea typeface="Arial" pitchFamily="34" charset="-122"/>
                <a:cs typeface="Arial" pitchFamily="34" charset="-120"/>
              </a:rPr>
              <a:t>Synced, approved, and online states</a:t>
            </a:r>
            <a:endParaRPr lang="en-US" sz="1000" dirty="0"/>
          </a:p>
        </p:txBody>
      </p:sp>
      <p:sp>
        <p:nvSpPr>
          <p:cNvPr id="20" name="Shape 18"/>
          <p:cNvSpPr/>
          <p:nvPr/>
        </p:nvSpPr>
        <p:spPr>
          <a:xfrm>
            <a:off x="4800600" y="3108960"/>
            <a:ext cx="3977640" cy="1417320"/>
          </a:xfrm>
          <a:prstGeom prst="roundRect">
            <a:avLst>
              <a:gd name="adj" fmla="val 5161"/>
            </a:avLst>
          </a:prstGeom>
          <a:solidFill>
            <a:srgbClr val="3A3A3A"/>
          </a:solidFill>
          <a:ln w="12700">
            <a:solidFill>
              <a:srgbClr val="555555"/>
            </a:solidFill>
            <a:prstDash val="solid"/>
          </a:ln>
        </p:spPr>
      </p:sp>
      <p:sp>
        <p:nvSpPr>
          <p:cNvPr id="21" name="Shape 19"/>
          <p:cNvSpPr/>
          <p:nvPr/>
        </p:nvSpPr>
        <p:spPr>
          <a:xfrm>
            <a:off x="4983480" y="3337560"/>
            <a:ext cx="640080" cy="960120"/>
          </a:xfrm>
          <a:prstGeom prst="roundRect">
            <a:avLst>
              <a:gd name="adj" fmla="val 8571"/>
            </a:avLst>
          </a:prstGeom>
          <a:solidFill>
            <a:srgbClr val="FFFFFF"/>
          </a:solidFill>
          <a:ln w="12700">
            <a:solidFill>
              <a:srgbClr val="FFFFFF"/>
            </a:solidFill>
            <a:prstDash val="solid"/>
          </a:ln>
        </p:spPr>
      </p:sp>
      <p:sp>
        <p:nvSpPr>
          <p:cNvPr id="22" name="Text 20"/>
          <p:cNvSpPr/>
          <p:nvPr/>
        </p:nvSpPr>
        <p:spPr>
          <a:xfrm>
            <a:off x="5806440" y="3383280"/>
            <a:ext cx="2834640" cy="32004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White</a:t>
            </a:r>
            <a:endParaRPr lang="en-US" sz="1400" dirty="0"/>
          </a:p>
        </p:txBody>
      </p:sp>
      <p:sp>
        <p:nvSpPr>
          <p:cNvPr id="23" name="Text 21"/>
          <p:cNvSpPr/>
          <p:nvPr/>
        </p:nvSpPr>
        <p:spPr>
          <a:xfrm>
            <a:off x="5806440" y="3703320"/>
            <a:ext cx="2834640" cy="228600"/>
          </a:xfrm>
          <a:prstGeom prst="rect">
            <a:avLst/>
          </a:prstGeom>
          <a:noFill/>
          <a:ln/>
        </p:spPr>
        <p:txBody>
          <a:bodyPr wrap="square" rtlCol="0" anchor="ctr"/>
          <a:lstStyle/>
          <a:p>
            <a:pPr indent="0" marL="0">
              <a:buNone/>
            </a:pPr>
            <a:r>
              <a:rPr lang="en-US" sz="1100" dirty="0">
                <a:solidFill>
                  <a:srgbClr val="F1583B"/>
                </a:solidFill>
                <a:latin typeface="Arial" pitchFamily="34" charset="0"/>
                <a:ea typeface="Arial" pitchFamily="34" charset="-122"/>
                <a:cs typeface="Arial" pitchFamily="34" charset="-120"/>
              </a:rPr>
              <a:t>#FFFFFF</a:t>
            </a:r>
            <a:endParaRPr lang="en-US" sz="1100" dirty="0"/>
          </a:p>
        </p:txBody>
      </p:sp>
      <p:sp>
        <p:nvSpPr>
          <p:cNvPr id="24" name="Text 22"/>
          <p:cNvSpPr/>
          <p:nvPr/>
        </p:nvSpPr>
        <p:spPr>
          <a:xfrm>
            <a:off x="5806440" y="3977640"/>
            <a:ext cx="2834640" cy="411480"/>
          </a:xfrm>
          <a:prstGeom prst="rect">
            <a:avLst/>
          </a:prstGeom>
          <a:noFill/>
          <a:ln/>
        </p:spPr>
        <p:txBody>
          <a:bodyPr wrap="square" rtlCol="0" anchor="ctr"/>
          <a:lstStyle/>
          <a:p>
            <a:pPr indent="0" marL="0">
              <a:buNone/>
            </a:pPr>
            <a:r>
              <a:rPr lang="en-US" sz="1000" dirty="0">
                <a:solidFill>
                  <a:srgbClr val="BBBBBB"/>
                </a:solidFill>
                <a:latin typeface="Arial" pitchFamily="34" charset="0"/>
                <a:ea typeface="Arial" pitchFamily="34" charset="-122"/>
                <a:cs typeface="Arial" pitchFamily="34" charset="-120"/>
              </a:rPr>
              <a:t>Backgrounds, cards, generous breathing room</a:t>
            </a:r>
            <a:endParaRPr lang="en-US" sz="1000" dirty="0"/>
          </a:p>
        </p:txBody>
      </p:sp>
      <p:sp>
        <p:nvSpPr>
          <p:cNvPr id="25" name="Text 23"/>
          <p:cNvSpPr/>
          <p:nvPr/>
        </p:nvSpPr>
        <p:spPr>
          <a:xfrm>
            <a:off x="502920" y="4160520"/>
            <a:ext cx="7772400" cy="365760"/>
          </a:xfrm>
          <a:prstGeom prst="rect">
            <a:avLst/>
          </a:prstGeom>
          <a:noFill/>
          <a:ln/>
        </p:spPr>
        <p:txBody>
          <a:bodyPr wrap="square" rtlCol="0" anchor="ctr"/>
          <a:lstStyle/>
          <a:p>
            <a:pPr indent="0" marL="0">
              <a:buNone/>
            </a:pPr>
            <a:r>
              <a:rPr lang="en-US" sz="1100" i="1" dirty="0">
                <a:solidFill>
                  <a:srgbClr val="AAAAAA"/>
                </a:solidFill>
                <a:latin typeface="Arial" pitchFamily="34" charset="0"/>
                <a:ea typeface="Arial" pitchFamily="34" charset="-122"/>
                <a:cs typeface="Arial" pitchFamily="34" charset="-120"/>
              </a:rPr>
              <a:t>Crisp and premium — yet clean enough for lower-end Android phones in the field.</a:t>
            </a:r>
            <a:endParaRPr lang="en-US" sz="1100" dirty="0"/>
          </a:p>
        </p:txBody>
      </p:sp>
      <p:sp>
        <p:nvSpPr>
          <p:cNvPr id="26" name="Text 24"/>
          <p:cNvSpPr/>
          <p:nvPr/>
        </p:nvSpPr>
        <p:spPr>
          <a:xfrm>
            <a:off x="457200" y="4709160"/>
            <a:ext cx="5486400" cy="274320"/>
          </a:xfrm>
          <a:prstGeom prst="rect">
            <a:avLst/>
          </a:prstGeom>
          <a:noFill/>
          <a:ln/>
        </p:spPr>
        <p:txBody>
          <a:bodyPr wrap="square" rtlCol="0" anchor="ctr"/>
          <a:lstStyle/>
          <a:p>
            <a:pPr indent="0" marL="0">
              <a:buNone/>
            </a:pPr>
            <a:r>
              <a:rPr lang="en-US" sz="800" dirty="0">
                <a:solidFill>
                  <a:srgbClr val="8A898A"/>
                </a:solidFill>
                <a:latin typeface="Arial" pitchFamily="34" charset="0"/>
                <a:ea typeface="Arial" pitchFamily="34" charset="-122"/>
                <a:cs typeface="Arial" pitchFamily="34" charset="-120"/>
              </a:rPr>
              <a:t>mantroOps  ·  Project Kickoff  ·  June 2025</a:t>
            </a:r>
            <a:endParaRPr lang="en-US" sz="800" dirty="0"/>
          </a:p>
        </p:txBody>
      </p:sp>
      <p:sp>
        <p:nvSpPr>
          <p:cNvPr id="27" name="Text 25"/>
          <p:cNvSpPr/>
          <p:nvPr/>
        </p:nvSpPr>
        <p:spPr>
          <a:xfrm>
            <a:off x="7772400" y="4709160"/>
            <a:ext cx="914400" cy="274320"/>
          </a:xfrm>
          <a:prstGeom prst="rect">
            <a:avLst/>
          </a:prstGeom>
          <a:noFill/>
          <a:ln/>
        </p:spPr>
        <p:txBody>
          <a:bodyPr wrap="square" rtlCol="0" anchor="ctr"/>
          <a:lstStyle/>
          <a:p>
            <a:pPr algn="r" indent="0" marL="0">
              <a:buNone/>
            </a:pPr>
            <a:r>
              <a:rPr lang="en-US" sz="800" dirty="0">
                <a:solidFill>
                  <a:srgbClr val="8A898A"/>
                </a:solidFill>
                <a:latin typeface="Arial" pitchFamily="34" charset="0"/>
                <a:ea typeface="Arial" pitchFamily="34" charset="-122"/>
                <a:cs typeface="Arial" pitchFamily="34" charset="-120"/>
              </a:rPr>
              <a:t>09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0A691"/>
          </a:solidFill>
          <a:ln w="12700">
            <a:solidFill>
              <a:srgbClr val="00A691"/>
            </a:solidFill>
            <a:prstDash val="solid"/>
          </a:ln>
        </p:spPr>
      </p:sp>
      <p:pic>
        <p:nvPicPr>
          <p:cNvPr id="3" name="Image 0" descr="C:\Users\Duapa Werkspace 010\Desktop\MantroOps\docs\presentation-assets\hero-engineering.jpg">    </p:cNvPr>
          <p:cNvPicPr>
            <a:picLocks noChangeAspect="1"/>
          </p:cNvPicPr>
          <p:nvPr/>
        </p:nvPicPr>
        <p:blipFill>
          <a:blip r:embed="rId1"/>
          <a:srcRect l="0" r="0" t="0" b="0"/>
          <a:stretch/>
        </p:blipFill>
        <p:spPr>
          <a:xfrm>
            <a:off x="0" y="0"/>
            <a:ext cx="9144000" cy="5143500"/>
          </a:xfrm>
          <a:prstGeom prst="rect">
            <a:avLst/>
          </a:prstGeom>
        </p:spPr>
      </p:pic>
      <p:sp>
        <p:nvSpPr>
          <p:cNvPr id="4" name="Shape 1"/>
          <p:cNvSpPr/>
          <p:nvPr/>
        </p:nvSpPr>
        <p:spPr>
          <a:xfrm>
            <a:off x="0" y="0"/>
            <a:ext cx="9144000" cy="5143500"/>
          </a:xfrm>
          <a:prstGeom prst="rect">
            <a:avLst/>
          </a:prstGeom>
          <a:solidFill>
            <a:srgbClr val="4F4E4F">
              <a:alpha val="75000"/>
            </a:srgbClr>
          </a:solidFill>
          <a:ln w="12700">
            <a:solidFill>
              <a:srgbClr val="333333">
                <a:alpha val="0"/>
              </a:srgbClr>
            </a:solidFill>
            <a:prstDash val="solid"/>
          </a:ln>
        </p:spPr>
      </p:sp>
      <p:sp>
        <p:nvSpPr>
          <p:cNvPr id="5" name="Text 2"/>
          <p:cNvSpPr/>
          <p:nvPr/>
        </p:nvSpPr>
        <p:spPr>
          <a:xfrm>
            <a:off x="502920" y="502920"/>
            <a:ext cx="7315200" cy="548640"/>
          </a:xfrm>
          <a:prstGeom prst="rect">
            <a:avLst/>
          </a:prstGeom>
          <a:noFill/>
          <a:ln/>
        </p:spPr>
        <p:txBody>
          <a:bodyPr wrap="square" rtlCol="0" anchor="ctr"/>
          <a:lstStyle/>
          <a:p>
            <a:pPr indent="0" marL="0">
              <a:buNone/>
            </a:pPr>
            <a:r>
              <a:rPr lang="en-US" sz="3000" b="1" dirty="0">
                <a:solidFill>
                  <a:srgbClr val="FFFFFF"/>
                </a:solidFill>
                <a:latin typeface="Arial" pitchFamily="34" charset="0"/>
                <a:ea typeface="Arial" pitchFamily="34" charset="-122"/>
                <a:cs typeface="Arial" pitchFamily="34" charset="-120"/>
              </a:rPr>
              <a:t>Immediate Actions</a:t>
            </a:r>
            <a:endParaRPr lang="en-US" sz="3000" dirty="0"/>
          </a:p>
        </p:txBody>
      </p:sp>
      <p:sp>
        <p:nvSpPr>
          <p:cNvPr id="6" name="Shape 3"/>
          <p:cNvSpPr/>
          <p:nvPr/>
        </p:nvSpPr>
        <p:spPr>
          <a:xfrm>
            <a:off x="502920" y="1325880"/>
            <a:ext cx="5029200" cy="640080"/>
          </a:xfrm>
          <a:prstGeom prst="roundRect">
            <a:avLst>
              <a:gd name="adj" fmla="val 8571"/>
            </a:avLst>
          </a:prstGeom>
          <a:solidFill>
            <a:srgbClr val="FFFFFF">
              <a:alpha val="90000"/>
            </a:srgbClr>
          </a:solidFill>
          <a:ln w="12700">
            <a:solidFill>
              <a:srgbClr val="FFFFFF">
                <a:alpha val="60000"/>
              </a:srgbClr>
            </a:solidFill>
            <a:prstDash val="solid"/>
          </a:ln>
        </p:spPr>
      </p:sp>
      <p:sp>
        <p:nvSpPr>
          <p:cNvPr id="7" name="Text 4"/>
          <p:cNvSpPr/>
          <p:nvPr/>
        </p:nvSpPr>
        <p:spPr>
          <a:xfrm>
            <a:off x="685800" y="1444752"/>
            <a:ext cx="365760" cy="365760"/>
          </a:xfrm>
          <a:prstGeom prst="rect">
            <a:avLst/>
          </a:prstGeom>
          <a:noFill/>
          <a:ln/>
        </p:spPr>
        <p:txBody>
          <a:bodyPr wrap="square" rtlCol="0" anchor="ctr"/>
          <a:lstStyle/>
          <a:p>
            <a:pPr algn="ctr" indent="0" marL="0">
              <a:buNone/>
            </a:pPr>
            <a:r>
              <a:rPr lang="en-US" sz="1400" b="1" dirty="0">
                <a:solidFill>
                  <a:srgbClr val="F1583B"/>
                </a:solidFill>
                <a:latin typeface="Arial" pitchFamily="34" charset="0"/>
                <a:ea typeface="Arial" pitchFamily="34" charset="-122"/>
                <a:cs typeface="Arial" pitchFamily="34" charset="-120"/>
              </a:rPr>
              <a:t>1</a:t>
            </a:r>
            <a:endParaRPr lang="en-US" sz="1400" dirty="0"/>
          </a:p>
        </p:txBody>
      </p:sp>
      <p:sp>
        <p:nvSpPr>
          <p:cNvPr id="8" name="Text 5"/>
          <p:cNvSpPr/>
          <p:nvPr/>
        </p:nvSpPr>
        <p:spPr>
          <a:xfrm>
            <a:off x="1143000" y="1444752"/>
            <a:ext cx="4206240" cy="45720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Confirm final team responsibilities and workflow.</a:t>
            </a:r>
            <a:endParaRPr lang="en-US" sz="1200" dirty="0"/>
          </a:p>
        </p:txBody>
      </p:sp>
      <p:sp>
        <p:nvSpPr>
          <p:cNvPr id="9" name="Shape 6"/>
          <p:cNvSpPr/>
          <p:nvPr/>
        </p:nvSpPr>
        <p:spPr>
          <a:xfrm>
            <a:off x="502920" y="2103120"/>
            <a:ext cx="5029200" cy="640080"/>
          </a:xfrm>
          <a:prstGeom prst="roundRect">
            <a:avLst>
              <a:gd name="adj" fmla="val 8571"/>
            </a:avLst>
          </a:prstGeom>
          <a:solidFill>
            <a:srgbClr val="FFFFFF">
              <a:alpha val="90000"/>
            </a:srgbClr>
          </a:solidFill>
          <a:ln w="12700">
            <a:solidFill>
              <a:srgbClr val="FFFFFF">
                <a:alpha val="60000"/>
              </a:srgbClr>
            </a:solidFill>
            <a:prstDash val="solid"/>
          </a:ln>
        </p:spPr>
      </p:sp>
      <p:sp>
        <p:nvSpPr>
          <p:cNvPr id="10" name="Text 7"/>
          <p:cNvSpPr/>
          <p:nvPr/>
        </p:nvSpPr>
        <p:spPr>
          <a:xfrm>
            <a:off x="685800" y="2221992"/>
            <a:ext cx="365760" cy="365760"/>
          </a:xfrm>
          <a:prstGeom prst="rect">
            <a:avLst/>
          </a:prstGeom>
          <a:noFill/>
          <a:ln/>
        </p:spPr>
        <p:txBody>
          <a:bodyPr wrap="square" rtlCol="0" anchor="ctr"/>
          <a:lstStyle/>
          <a:p>
            <a:pPr algn="ctr" indent="0" marL="0">
              <a:buNone/>
            </a:pPr>
            <a:r>
              <a:rPr lang="en-US" sz="1400" b="1" dirty="0">
                <a:solidFill>
                  <a:srgbClr val="F1583B"/>
                </a:solidFill>
                <a:latin typeface="Arial" pitchFamily="34" charset="0"/>
                <a:ea typeface="Arial" pitchFamily="34" charset="-122"/>
                <a:cs typeface="Arial" pitchFamily="34" charset="-120"/>
              </a:rPr>
              <a:t>2</a:t>
            </a:r>
            <a:endParaRPr lang="en-US" sz="1400" dirty="0"/>
          </a:p>
        </p:txBody>
      </p:sp>
      <p:sp>
        <p:nvSpPr>
          <p:cNvPr id="11" name="Text 8"/>
          <p:cNvSpPr/>
          <p:nvPr/>
        </p:nvSpPr>
        <p:spPr>
          <a:xfrm>
            <a:off x="1143000" y="2221992"/>
            <a:ext cx="4206240" cy="45720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Begin problem-validation calls with 5 to 10 engineering firms.</a:t>
            </a:r>
            <a:endParaRPr lang="en-US" sz="1200" dirty="0"/>
          </a:p>
        </p:txBody>
      </p:sp>
      <p:sp>
        <p:nvSpPr>
          <p:cNvPr id="12" name="Shape 9"/>
          <p:cNvSpPr/>
          <p:nvPr/>
        </p:nvSpPr>
        <p:spPr>
          <a:xfrm>
            <a:off x="502920" y="2880360"/>
            <a:ext cx="5029200" cy="640080"/>
          </a:xfrm>
          <a:prstGeom prst="roundRect">
            <a:avLst>
              <a:gd name="adj" fmla="val 8571"/>
            </a:avLst>
          </a:prstGeom>
          <a:solidFill>
            <a:srgbClr val="FFFFFF">
              <a:alpha val="90000"/>
            </a:srgbClr>
          </a:solidFill>
          <a:ln w="12700">
            <a:solidFill>
              <a:srgbClr val="FFFFFF">
                <a:alpha val="60000"/>
              </a:srgbClr>
            </a:solidFill>
            <a:prstDash val="solid"/>
          </a:ln>
        </p:spPr>
      </p:sp>
      <p:sp>
        <p:nvSpPr>
          <p:cNvPr id="13" name="Text 10"/>
          <p:cNvSpPr/>
          <p:nvPr/>
        </p:nvSpPr>
        <p:spPr>
          <a:xfrm>
            <a:off x="685800" y="2999232"/>
            <a:ext cx="365760" cy="365760"/>
          </a:xfrm>
          <a:prstGeom prst="rect">
            <a:avLst/>
          </a:prstGeom>
          <a:noFill/>
          <a:ln/>
        </p:spPr>
        <p:txBody>
          <a:bodyPr wrap="square" rtlCol="0" anchor="ctr"/>
          <a:lstStyle/>
          <a:p>
            <a:pPr algn="ctr" indent="0" marL="0">
              <a:buNone/>
            </a:pPr>
            <a:r>
              <a:rPr lang="en-US" sz="1400" b="1" dirty="0">
                <a:solidFill>
                  <a:srgbClr val="F1583B"/>
                </a:solidFill>
                <a:latin typeface="Arial" pitchFamily="34" charset="0"/>
                <a:ea typeface="Arial" pitchFamily="34" charset="-122"/>
                <a:cs typeface="Arial" pitchFamily="34" charset="-120"/>
              </a:rPr>
              <a:t>3</a:t>
            </a:r>
            <a:endParaRPr lang="en-US" sz="1400" dirty="0"/>
          </a:p>
        </p:txBody>
      </p:sp>
      <p:sp>
        <p:nvSpPr>
          <p:cNvPr id="14" name="Text 11"/>
          <p:cNvSpPr/>
          <p:nvPr/>
        </p:nvSpPr>
        <p:spPr>
          <a:xfrm>
            <a:off x="1143000" y="2999232"/>
            <a:ext cx="4206240" cy="45720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Kick off our first tech build sprint for the core MVP.</a:t>
            </a:r>
            <a:endParaRPr lang="en-US" sz="1200" dirty="0"/>
          </a:p>
        </p:txBody>
      </p:sp>
      <p:sp>
        <p:nvSpPr>
          <p:cNvPr id="15" name="Shape 12"/>
          <p:cNvSpPr/>
          <p:nvPr/>
        </p:nvSpPr>
        <p:spPr>
          <a:xfrm>
            <a:off x="502920" y="3657600"/>
            <a:ext cx="5029200" cy="640080"/>
          </a:xfrm>
          <a:prstGeom prst="roundRect">
            <a:avLst>
              <a:gd name="adj" fmla="val 8571"/>
            </a:avLst>
          </a:prstGeom>
          <a:solidFill>
            <a:srgbClr val="FFFFFF">
              <a:alpha val="90000"/>
            </a:srgbClr>
          </a:solidFill>
          <a:ln w="12700">
            <a:solidFill>
              <a:srgbClr val="FFFFFF">
                <a:alpha val="60000"/>
              </a:srgbClr>
            </a:solidFill>
            <a:prstDash val="solid"/>
          </a:ln>
        </p:spPr>
      </p:sp>
      <p:sp>
        <p:nvSpPr>
          <p:cNvPr id="16" name="Text 13"/>
          <p:cNvSpPr/>
          <p:nvPr/>
        </p:nvSpPr>
        <p:spPr>
          <a:xfrm>
            <a:off x="685800" y="3776472"/>
            <a:ext cx="365760" cy="365760"/>
          </a:xfrm>
          <a:prstGeom prst="rect">
            <a:avLst/>
          </a:prstGeom>
          <a:noFill/>
          <a:ln/>
        </p:spPr>
        <p:txBody>
          <a:bodyPr wrap="square" rtlCol="0" anchor="ctr"/>
          <a:lstStyle/>
          <a:p>
            <a:pPr algn="ctr" indent="0" marL="0">
              <a:buNone/>
            </a:pPr>
            <a:r>
              <a:rPr lang="en-US" sz="1400" b="1" dirty="0">
                <a:solidFill>
                  <a:srgbClr val="F1583B"/>
                </a:solidFill>
                <a:latin typeface="Arial" pitchFamily="34" charset="0"/>
                <a:ea typeface="Arial" pitchFamily="34" charset="-122"/>
                <a:cs typeface="Arial" pitchFamily="34" charset="-120"/>
              </a:rPr>
              <a:t>4</a:t>
            </a:r>
            <a:endParaRPr lang="en-US" sz="1400" dirty="0"/>
          </a:p>
        </p:txBody>
      </p:sp>
      <p:sp>
        <p:nvSpPr>
          <p:cNvPr id="17" name="Text 14"/>
          <p:cNvSpPr/>
          <p:nvPr/>
        </p:nvSpPr>
        <p:spPr>
          <a:xfrm>
            <a:off x="1143000" y="3776472"/>
            <a:ext cx="4206240" cy="45720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Identify and list top early pilot partners in Accra, Tema, and Takoradi.</a:t>
            </a:r>
            <a:endParaRPr lang="en-US" sz="1200" dirty="0"/>
          </a:p>
        </p:txBody>
      </p:sp>
      <p:sp>
        <p:nvSpPr>
          <p:cNvPr id="18" name="Text 15"/>
          <p:cNvSpPr/>
          <p:nvPr/>
        </p:nvSpPr>
        <p:spPr>
          <a:xfrm>
            <a:off x="502920" y="4343400"/>
            <a:ext cx="4572000" cy="411480"/>
          </a:xfrm>
          <a:prstGeom prst="rect">
            <a:avLst/>
          </a:prstGeom>
          <a:noFill/>
          <a:ln/>
        </p:spPr>
        <p:txBody>
          <a:bodyPr wrap="square" rtlCol="0" anchor="ctr"/>
          <a:lstStyle/>
          <a:p>
            <a:pPr indent="0" marL="0">
              <a:buNone/>
            </a:pPr>
            <a:r>
              <a:rPr lang="en-US" sz="2000" b="1" dirty="0">
                <a:solidFill>
                  <a:srgbClr val="F1583B"/>
                </a:solidFill>
                <a:latin typeface="Arial" pitchFamily="34" charset="0"/>
                <a:ea typeface="Arial" pitchFamily="34" charset="-122"/>
                <a:cs typeface="Arial" pitchFamily="34" charset="-120"/>
              </a:rPr>
              <a:t>Let's build this.</a:t>
            </a:r>
            <a:endParaRPr lang="en-US" sz="2000" dirty="0"/>
          </a:p>
        </p:txBody>
      </p:sp>
      <p:sp>
        <p:nvSpPr>
          <p:cNvPr id="19" name="Text 16"/>
          <p:cNvSpPr/>
          <p:nvPr/>
        </p:nvSpPr>
        <p:spPr>
          <a:xfrm>
            <a:off x="457200" y="4709160"/>
            <a:ext cx="5486400" cy="274320"/>
          </a:xfrm>
          <a:prstGeom prst="rect">
            <a:avLst/>
          </a:prstGeom>
          <a:noFill/>
          <a:ln/>
        </p:spPr>
        <p:txBody>
          <a:bodyPr wrap="square" rtlCol="0" anchor="ctr"/>
          <a:lstStyle/>
          <a:p>
            <a:pPr indent="0" marL="0">
              <a:buNone/>
            </a:pPr>
            <a:r>
              <a:rPr lang="en-US" sz="800" dirty="0">
                <a:solidFill>
                  <a:srgbClr val="8A898A"/>
                </a:solidFill>
                <a:latin typeface="Arial" pitchFamily="34" charset="0"/>
                <a:ea typeface="Arial" pitchFamily="34" charset="-122"/>
                <a:cs typeface="Arial" pitchFamily="34" charset="-120"/>
              </a:rPr>
              <a:t>mantroOps  ·  Project Kickoff  ·  June 2025</a:t>
            </a:r>
            <a:endParaRPr lang="en-US" sz="800" dirty="0"/>
          </a:p>
        </p:txBody>
      </p:sp>
      <p:sp>
        <p:nvSpPr>
          <p:cNvPr id="20" name="Text 17"/>
          <p:cNvSpPr/>
          <p:nvPr/>
        </p:nvSpPr>
        <p:spPr>
          <a:xfrm>
            <a:off x="7772400" y="4709160"/>
            <a:ext cx="914400" cy="274320"/>
          </a:xfrm>
          <a:prstGeom prst="rect">
            <a:avLst/>
          </a:prstGeom>
          <a:noFill/>
          <a:ln/>
        </p:spPr>
        <p:txBody>
          <a:bodyPr wrap="square" rtlCol="0" anchor="ctr"/>
          <a:lstStyle/>
          <a:p>
            <a:pPr algn="r" indent="0" marL="0">
              <a:buNone/>
            </a:pPr>
            <a:r>
              <a:rPr lang="en-US" sz="800" dirty="0">
                <a:solidFill>
                  <a:srgbClr val="8A898A"/>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mantroOps — Project Kickoff</dc:title>
  <dc:subject>Internal Team Pitch &amp; Kickoff Framework</dc:subject>
  <dc:creator>mantroOps Product &amp; Tech</dc:creator>
  <cp:lastModifiedBy>mantroOps Product &amp; Tech</cp:lastModifiedBy>
  <cp:revision>1</cp:revision>
  <dcterms:created xsi:type="dcterms:W3CDTF">2026-06-19T21:04:54Z</dcterms:created>
  <dcterms:modified xsi:type="dcterms:W3CDTF">2026-06-19T21:04:54Z</dcterms:modified>
</cp:coreProperties>
</file>